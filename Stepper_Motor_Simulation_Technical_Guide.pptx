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E17"/>
        </a:solidFill>
        <a:effectLst/>
      </p:bgPr>
    </p:bg>
    <p:spTree>
      <p:nvGrpSpPr>
        <p:cNvPr id="1" name=""/>
        <p:cNvGrpSpPr/>
        <p:nvPr/>
      </p:nvGrpSpPr>
      <p:grpSpPr/>
      <p:sp>
        <p:nvSpPr>
          <p:cNvPr id="2" name="Rounded Rectangle 1"/>
          <p:cNvSpPr/>
          <p:nvPr/>
        </p:nvSpPr>
        <p:spPr>
          <a:xfrm>
            <a:off x="0" y="0"/>
            <a:ext cx="12188952" cy="54864"/>
          </a:xfrm>
          <a:prstGeom prst="round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645920"/>
            <a:ext cx="9418320" cy="310896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1828800"/>
            <a:ext cx="8229600" cy="640080"/>
          </a:xfrm>
          <a:prstGeom prst="rect">
            <a:avLst/>
          </a:prstGeom>
          <a:noFill/>
        </p:spPr>
        <p:txBody>
          <a:bodyPr wrap="square">
            <a:spAutoFit/>
          </a:bodyPr>
          <a:lstStyle/>
          <a:p>
            <a:pPr algn="ctr">
              <a:defRPr sz="3200" b="1">
                <a:solidFill>
                  <a:srgbClr val="00D4FF"/>
                </a:solidFill>
                <a:latin typeface="Segoe UI"/>
              </a:defRPr>
            </a:pPr>
            <a:r>
              <a:t>⚙  Stepper Motor Open-Loop Simulation</a:t>
            </a:r>
          </a:p>
        </p:txBody>
      </p:sp>
      <p:sp>
        <p:nvSpPr>
          <p:cNvPr id="5" name="TextBox 4"/>
          <p:cNvSpPr txBox="1"/>
          <p:nvPr/>
        </p:nvSpPr>
        <p:spPr>
          <a:xfrm>
            <a:off x="1828800" y="2468880"/>
            <a:ext cx="8229600" cy="457200"/>
          </a:xfrm>
          <a:prstGeom prst="rect">
            <a:avLst/>
          </a:prstGeom>
          <a:noFill/>
        </p:spPr>
        <p:txBody>
          <a:bodyPr wrap="square">
            <a:spAutoFit/>
          </a:bodyPr>
          <a:lstStyle/>
          <a:p>
            <a:pPr algn="ctr">
              <a:defRPr sz="1800" b="0">
                <a:solidFill>
                  <a:srgbClr val="E8ECF4"/>
                </a:solidFill>
                <a:latin typeface="Segoe UI"/>
              </a:defRPr>
            </a:pPr>
            <a:r>
              <a:t>Step Loss Demonstration Using Pulley-Weight Mechanism</a:t>
            </a:r>
          </a:p>
        </p:txBody>
      </p:sp>
      <p:sp>
        <p:nvSpPr>
          <p:cNvPr id="6" name="Rounded Rectangle 5"/>
          <p:cNvSpPr/>
          <p:nvPr/>
        </p:nvSpPr>
        <p:spPr>
          <a:xfrm>
            <a:off x="4114800" y="3063240"/>
            <a:ext cx="3931920" cy="18288"/>
          </a:xfrm>
          <a:prstGeom prst="roundRect">
            <a:avLst/>
          </a:prstGeom>
          <a:solidFill>
            <a:srgbClr val="2A3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3246120"/>
            <a:ext cx="8229600" cy="365760"/>
          </a:xfrm>
          <a:prstGeom prst="rect">
            <a:avLst/>
          </a:prstGeom>
          <a:noFill/>
        </p:spPr>
        <p:txBody>
          <a:bodyPr wrap="square">
            <a:spAutoFit/>
          </a:bodyPr>
          <a:lstStyle/>
          <a:p>
            <a:pPr algn="ctr">
              <a:defRPr sz="1400" b="0">
                <a:solidFill>
                  <a:srgbClr val="8B95A8"/>
                </a:solidFill>
                <a:latin typeface="Segoe UI"/>
              </a:defRPr>
            </a:pPr>
            <a:r>
              <a:t>Technical Guide for Laboratory Education</a:t>
            </a:r>
          </a:p>
        </p:txBody>
      </p:sp>
      <p:sp>
        <p:nvSpPr>
          <p:cNvPr id="8" name="TextBox 7"/>
          <p:cNvSpPr txBox="1"/>
          <p:nvPr/>
        </p:nvSpPr>
        <p:spPr>
          <a:xfrm>
            <a:off x="1828800" y="3657600"/>
            <a:ext cx="8229600" cy="320040"/>
          </a:xfrm>
          <a:prstGeom prst="rect">
            <a:avLst/>
          </a:prstGeom>
          <a:noFill/>
        </p:spPr>
        <p:txBody>
          <a:bodyPr wrap="square">
            <a:spAutoFit/>
          </a:bodyPr>
          <a:lstStyle/>
          <a:p>
            <a:pPr algn="ctr">
              <a:defRPr sz="1200" b="0">
                <a:solidFill>
                  <a:srgbClr val="5A6478"/>
                </a:solidFill>
                <a:latin typeface="Segoe UI"/>
              </a:defRPr>
            </a:pPr>
            <a:r>
              <a:t>Python + Tkinter  |  Real-Time Interactive Simulation</a:t>
            </a:r>
          </a:p>
        </p:txBody>
      </p:sp>
      <p:sp>
        <p:nvSpPr>
          <p:cNvPr id="9" name="TextBox 8"/>
          <p:cNvSpPr txBox="1"/>
          <p:nvPr/>
        </p:nvSpPr>
        <p:spPr>
          <a:xfrm>
            <a:off x="1828800" y="4069080"/>
            <a:ext cx="8229600" cy="320040"/>
          </a:xfrm>
          <a:prstGeom prst="rect">
            <a:avLst/>
          </a:prstGeom>
          <a:noFill/>
        </p:spPr>
        <p:txBody>
          <a:bodyPr wrap="square">
            <a:spAutoFit/>
          </a:bodyPr>
          <a:lstStyle/>
          <a:p>
            <a:pPr algn="ctr">
              <a:defRPr sz="1300" b="1">
                <a:solidFill>
                  <a:srgbClr val="FF9800"/>
                </a:solidFill>
                <a:latin typeface="Segoe UI"/>
              </a:defRPr>
            </a:pPr>
            <a:r>
              <a:t>Author: NANDHAKUMAR J</a:t>
            </a:r>
          </a:p>
        </p:txBody>
      </p:sp>
      <p:sp>
        <p:nvSpPr>
          <p:cNvPr id="10" name="Rounded Rectangle 9"/>
          <p:cNvSpPr/>
          <p:nvPr/>
        </p:nvSpPr>
        <p:spPr>
          <a:xfrm>
            <a:off x="2743200" y="5120640"/>
            <a:ext cx="1645920" cy="365760"/>
          </a:xfrm>
          <a:prstGeom prst="roundRect">
            <a:avLst/>
          </a:prstGeom>
          <a:solidFill>
            <a:srgbClr val="1A2336"/>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0" y="5166360"/>
            <a:ext cx="1645920" cy="320040"/>
          </a:xfrm>
          <a:prstGeom prst="rect">
            <a:avLst/>
          </a:prstGeom>
          <a:noFill/>
        </p:spPr>
        <p:txBody>
          <a:bodyPr wrap="square">
            <a:spAutoFit/>
          </a:bodyPr>
          <a:lstStyle/>
          <a:p>
            <a:pPr algn="ctr">
              <a:defRPr sz="1000" b="0">
                <a:solidFill>
                  <a:srgbClr val="00D4FF"/>
                </a:solidFill>
                <a:latin typeface="Consolas"/>
              </a:defRPr>
            </a:pPr>
            <a:r>
              <a:t>PPR: 200</a:t>
            </a:r>
          </a:p>
        </p:txBody>
      </p:sp>
      <p:sp>
        <p:nvSpPr>
          <p:cNvPr id="12" name="Rounded Rectangle 11"/>
          <p:cNvSpPr/>
          <p:nvPr/>
        </p:nvSpPr>
        <p:spPr>
          <a:xfrm>
            <a:off x="4572000" y="5120640"/>
            <a:ext cx="1645920" cy="365760"/>
          </a:xfrm>
          <a:prstGeom prst="roundRect">
            <a:avLst/>
          </a:prstGeom>
          <a:solidFill>
            <a:srgbClr val="1A2336"/>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5166360"/>
            <a:ext cx="1645920" cy="320040"/>
          </a:xfrm>
          <a:prstGeom prst="rect">
            <a:avLst/>
          </a:prstGeom>
          <a:noFill/>
        </p:spPr>
        <p:txBody>
          <a:bodyPr wrap="square">
            <a:spAutoFit/>
          </a:bodyPr>
          <a:lstStyle/>
          <a:p>
            <a:pPr algn="ctr">
              <a:defRPr sz="1000" b="0">
                <a:solidFill>
                  <a:srgbClr val="00E676"/>
                </a:solidFill>
                <a:latin typeface="Consolas"/>
              </a:defRPr>
            </a:pPr>
            <a:r>
              <a:t>Radius: 20mm</a:t>
            </a:r>
          </a:p>
        </p:txBody>
      </p:sp>
      <p:sp>
        <p:nvSpPr>
          <p:cNvPr id="14" name="Rounded Rectangle 13"/>
          <p:cNvSpPr/>
          <p:nvPr/>
        </p:nvSpPr>
        <p:spPr>
          <a:xfrm>
            <a:off x="6400800" y="5120640"/>
            <a:ext cx="1645920" cy="365760"/>
          </a:xfrm>
          <a:prstGeom prst="roundRect">
            <a:avLst/>
          </a:prstGeom>
          <a:solidFill>
            <a:srgbClr val="1A2336"/>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5166360"/>
            <a:ext cx="1645920" cy="320040"/>
          </a:xfrm>
          <a:prstGeom prst="rect">
            <a:avLst/>
          </a:prstGeom>
          <a:noFill/>
        </p:spPr>
        <p:txBody>
          <a:bodyPr wrap="square">
            <a:spAutoFit/>
          </a:bodyPr>
          <a:lstStyle/>
          <a:p>
            <a:pPr algn="ctr">
              <a:defRPr sz="1000" b="0">
                <a:solidFill>
                  <a:srgbClr val="FF9800"/>
                </a:solidFill>
                <a:latin typeface="Consolas"/>
              </a:defRPr>
            </a:pPr>
            <a:r>
              <a:t>Step Angle: 1.8°</a:t>
            </a:r>
          </a:p>
        </p:txBody>
      </p:sp>
      <p:sp>
        <p:nvSpPr>
          <p:cNvPr id="16" name="Rounded Rectangle 15"/>
          <p:cNvSpPr/>
          <p:nvPr/>
        </p:nvSpPr>
        <p:spPr>
          <a:xfrm>
            <a:off x="8229600" y="5120640"/>
            <a:ext cx="1645920" cy="365760"/>
          </a:xfrm>
          <a:prstGeom prst="roundRect">
            <a:avLst/>
          </a:prstGeom>
          <a:solidFill>
            <a:srgbClr val="1A2336"/>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5166360"/>
            <a:ext cx="1645920" cy="320040"/>
          </a:xfrm>
          <a:prstGeom prst="rect">
            <a:avLst/>
          </a:prstGeom>
          <a:noFill/>
        </p:spPr>
        <p:txBody>
          <a:bodyPr wrap="square">
            <a:spAutoFit/>
          </a:bodyPr>
          <a:lstStyle/>
          <a:p>
            <a:pPr algn="ctr">
              <a:defRPr sz="1000" b="0">
                <a:solidFill>
                  <a:srgbClr val="FF4060"/>
                </a:solidFill>
                <a:latin typeface="Consolas"/>
              </a:defRPr>
            </a:pPr>
            <a:r>
              <a:t>T_avail: 1.0 Nm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E17"/>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48640"/>
          </a:xfrm>
          <a:prstGeom prst="rect">
            <a:avLst/>
          </a:prstGeom>
          <a:noFill/>
        </p:spPr>
        <p:txBody>
          <a:bodyPr wrap="square">
            <a:spAutoFit/>
          </a:bodyPr>
          <a:lstStyle/>
          <a:p>
            <a:pPr algn="l">
              <a:defRPr sz="2400" b="1">
                <a:solidFill>
                  <a:srgbClr val="00D4FF"/>
                </a:solidFill>
                <a:latin typeface="Segoe UI"/>
              </a:defRPr>
            </a:pPr>
            <a:r>
              <a:t>Table of Contents</a:t>
            </a:r>
          </a:p>
        </p:txBody>
      </p:sp>
      <p:sp>
        <p:nvSpPr>
          <p:cNvPr id="4" name="Rounded Rectangle 3"/>
          <p:cNvSpPr/>
          <p:nvPr/>
        </p:nvSpPr>
        <p:spPr>
          <a:xfrm>
            <a:off x="914400" y="1097280"/>
            <a:ext cx="5029200" cy="530352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280160"/>
            <a:ext cx="4572000" cy="5029200"/>
          </a:xfrm>
          <a:prstGeom prst="rect">
            <a:avLst/>
          </a:prstGeom>
          <a:noFill/>
        </p:spPr>
        <p:txBody>
          <a:bodyPr wrap="square">
            <a:spAutoFit/>
          </a:bodyPr>
          <a:lstStyle/>
          <a:p>
            <a:pPr>
              <a:spcAft>
                <a:spcPts val="600"/>
              </a:spcAft>
              <a:defRPr sz="1500">
                <a:solidFill>
                  <a:srgbClr val="E8ECF4"/>
                </a:solidFill>
                <a:latin typeface="Segoe UI"/>
              </a:defRPr>
            </a:pPr>
            <a:r>
              <a:t>1.  Introduction to Stepper Motors</a:t>
            </a:r>
          </a:p>
          <a:p>
            <a:pPr>
              <a:spcAft>
                <a:spcPts val="600"/>
              </a:spcAft>
              <a:defRPr sz="1500">
                <a:solidFill>
                  <a:srgbClr val="E8ECF4"/>
                </a:solidFill>
                <a:latin typeface="Segoe UI"/>
              </a:defRPr>
            </a:pPr>
            <a:r>
              <a:t>2.  Open-Loop vs Closed-Loop Control</a:t>
            </a:r>
          </a:p>
          <a:p>
            <a:pPr>
              <a:spcAft>
                <a:spcPts val="600"/>
              </a:spcAft>
              <a:defRPr sz="1500">
                <a:solidFill>
                  <a:srgbClr val="E8ECF4"/>
                </a:solidFill>
                <a:latin typeface="Segoe UI"/>
              </a:defRPr>
            </a:pPr>
            <a:r>
              <a:t>3.  Step Loss Phenomenon</a:t>
            </a:r>
          </a:p>
          <a:p>
            <a:pPr>
              <a:spcAft>
                <a:spcPts val="600"/>
              </a:spcAft>
              <a:defRPr sz="1500">
                <a:solidFill>
                  <a:srgbClr val="E8ECF4"/>
                </a:solidFill>
                <a:latin typeface="Segoe UI"/>
              </a:defRPr>
            </a:pPr>
            <a:r>
              <a:t>4.  Pulley-Weight Load Mechanism</a:t>
            </a:r>
          </a:p>
          <a:p>
            <a:pPr>
              <a:spcAft>
                <a:spcPts val="600"/>
              </a:spcAft>
              <a:defRPr sz="1500">
                <a:solidFill>
                  <a:srgbClr val="E8ECF4"/>
                </a:solidFill>
                <a:latin typeface="Segoe UI"/>
              </a:defRPr>
            </a:pPr>
            <a:r>
              <a:t>5.  Physics &amp; Mathematical Model</a:t>
            </a:r>
          </a:p>
          <a:p>
            <a:pPr>
              <a:spcAft>
                <a:spcPts val="600"/>
              </a:spcAft>
              <a:defRPr sz="1500">
                <a:solidFill>
                  <a:srgbClr val="E8ECF4"/>
                </a:solidFill>
                <a:latin typeface="Segoe UI"/>
              </a:defRPr>
            </a:pPr>
            <a:r>
              <a:t>6.  Simulation Architecture</a:t>
            </a:r>
          </a:p>
          <a:p>
            <a:pPr>
              <a:spcAft>
                <a:spcPts val="600"/>
              </a:spcAft>
              <a:defRPr sz="1500">
                <a:solidFill>
                  <a:srgbClr val="E8ECF4"/>
                </a:solidFill>
                <a:latin typeface="Segoe UI"/>
              </a:defRPr>
            </a:pPr>
            <a:r>
              <a:t>7.  User Interface Overview</a:t>
            </a:r>
          </a:p>
          <a:p>
            <a:pPr>
              <a:spcAft>
                <a:spcPts val="600"/>
              </a:spcAft>
              <a:defRPr sz="1500">
                <a:solidFill>
                  <a:srgbClr val="E8ECF4"/>
                </a:solidFill>
                <a:latin typeface="Segoe UI"/>
              </a:defRPr>
            </a:pPr>
            <a:r>
              <a:t>8.  Step-by-Step Operating Guide</a:t>
            </a:r>
          </a:p>
          <a:p>
            <a:pPr>
              <a:spcAft>
                <a:spcPts val="600"/>
              </a:spcAft>
              <a:defRPr sz="1500">
                <a:solidFill>
                  <a:srgbClr val="E8ECF4"/>
                </a:solidFill>
                <a:latin typeface="Segoe UI"/>
              </a:defRPr>
            </a:pPr>
            <a:r>
              <a:t>9.  Experimental Observations</a:t>
            </a:r>
          </a:p>
          <a:p>
            <a:pPr>
              <a:spcAft>
                <a:spcPts val="600"/>
              </a:spcAft>
              <a:defRPr sz="1500">
                <a:solidFill>
                  <a:srgbClr val="E8ECF4"/>
                </a:solidFill>
                <a:latin typeface="Segoe UI"/>
              </a:defRPr>
            </a:pPr>
            <a:r>
              <a:t>10. Key Formulas Summary</a:t>
            </a:r>
          </a:p>
          <a:p>
            <a:pPr>
              <a:spcAft>
                <a:spcPts val="600"/>
              </a:spcAft>
              <a:defRPr sz="1500">
                <a:solidFill>
                  <a:srgbClr val="E8ECF4"/>
                </a:solidFill>
                <a:latin typeface="Segoe UI"/>
              </a:defRPr>
            </a:pPr>
            <a:r>
              <a:t>11. Applications &amp; Industry Use</a:t>
            </a:r>
          </a:p>
          <a:p>
            <a:pPr>
              <a:spcAft>
                <a:spcPts val="600"/>
              </a:spcAft>
              <a:defRPr sz="1500">
                <a:solidFill>
                  <a:srgbClr val="E8ECF4"/>
                </a:solidFill>
                <a:latin typeface="Segoe UI"/>
              </a:defRPr>
            </a:pPr>
            <a:r>
              <a:t>12. Conclusion &amp; Learning Outcomes</a:t>
            </a:r>
          </a:p>
        </p:txBody>
      </p:sp>
      <p:sp>
        <p:nvSpPr>
          <p:cNvPr id="6" name="Rounded Rectangle 5"/>
          <p:cNvSpPr/>
          <p:nvPr/>
        </p:nvSpPr>
        <p:spPr>
          <a:xfrm>
            <a:off x="6583680" y="1097280"/>
            <a:ext cx="4846320" cy="2286000"/>
          </a:xfrm>
          <a:prstGeom prst="roundRect">
            <a:avLst/>
          </a:prstGeom>
          <a:solidFill>
            <a:srgbClr val="1A2336"/>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0" y="1234440"/>
            <a:ext cx="4297680" cy="365760"/>
          </a:xfrm>
          <a:prstGeom prst="rect">
            <a:avLst/>
          </a:prstGeom>
          <a:noFill/>
        </p:spPr>
        <p:txBody>
          <a:bodyPr wrap="square">
            <a:spAutoFit/>
          </a:bodyPr>
          <a:lstStyle/>
          <a:p>
            <a:pPr algn="l">
              <a:defRPr sz="1600" b="1">
                <a:solidFill>
                  <a:srgbClr val="00D4FF"/>
                </a:solidFill>
                <a:latin typeface="Segoe UI"/>
              </a:defRPr>
            </a:pPr>
            <a:r>
              <a:t>Learning Objectives</a:t>
            </a:r>
          </a:p>
        </p:txBody>
      </p:sp>
      <p:sp>
        <p:nvSpPr>
          <p:cNvPr id="8" name="TextBox 7"/>
          <p:cNvSpPr txBox="1"/>
          <p:nvPr/>
        </p:nvSpPr>
        <p:spPr>
          <a:xfrm>
            <a:off x="6858000" y="1691640"/>
            <a:ext cx="4297680" cy="1828800"/>
          </a:xfrm>
          <a:prstGeom prst="rect">
            <a:avLst/>
          </a:prstGeom>
          <a:noFill/>
        </p:spPr>
        <p:txBody>
          <a:bodyPr wrap="square">
            <a:spAutoFit/>
          </a:bodyPr>
          <a:lstStyle/>
          <a:p>
            <a:pPr>
              <a:spcAft>
                <a:spcPts val="600"/>
              </a:spcAft>
            </a:pPr>
            <a:r>
              <a:rPr sz="1200" b="1">
                <a:solidFill>
                  <a:srgbClr val="00E676"/>
                </a:solidFill>
                <a:latin typeface="Consolas"/>
              </a:rPr>
              <a:t>●  </a:t>
            </a:r>
            <a:r>
              <a:rPr sz="1200">
                <a:solidFill>
                  <a:srgbClr val="E8ECF4"/>
                </a:solidFill>
                <a:latin typeface="Segoe UI"/>
              </a:rPr>
              <a:t>Understand stepper motor open-loop behavior</a:t>
            </a:r>
          </a:p>
          <a:p>
            <a:pPr>
              <a:spcAft>
                <a:spcPts val="600"/>
              </a:spcAft>
            </a:pPr>
            <a:r>
              <a:rPr sz="1200" b="1">
                <a:solidFill>
                  <a:srgbClr val="FF9800"/>
                </a:solidFill>
                <a:latin typeface="Consolas"/>
              </a:rPr>
              <a:t>●  </a:t>
            </a:r>
            <a:r>
              <a:rPr sz="1200">
                <a:solidFill>
                  <a:srgbClr val="E8ECF4"/>
                </a:solidFill>
                <a:latin typeface="Segoe UI"/>
              </a:rPr>
              <a:t>Observe step loss under varying loads</a:t>
            </a:r>
          </a:p>
          <a:p>
            <a:pPr>
              <a:spcAft>
                <a:spcPts val="600"/>
              </a:spcAft>
            </a:pPr>
            <a:r>
              <a:rPr sz="1200" b="1">
                <a:solidFill>
                  <a:srgbClr val="00D4FF"/>
                </a:solidFill>
                <a:latin typeface="Consolas"/>
              </a:rPr>
              <a:t>●  </a:t>
            </a:r>
            <a:r>
              <a:rPr sz="1200">
                <a:solidFill>
                  <a:srgbClr val="E8ECF4"/>
                </a:solidFill>
                <a:latin typeface="Segoe UI"/>
              </a:rPr>
              <a:t>Analyze torque vs load characteristics</a:t>
            </a:r>
          </a:p>
          <a:p>
            <a:pPr>
              <a:spcAft>
                <a:spcPts val="600"/>
              </a:spcAft>
            </a:pPr>
            <a:r>
              <a:rPr sz="1200" b="1">
                <a:solidFill>
                  <a:srgbClr val="FF4060"/>
                </a:solidFill>
                <a:latin typeface="Consolas"/>
              </a:rPr>
              <a:t>●  </a:t>
            </a:r>
            <a:r>
              <a:rPr sz="1200">
                <a:solidFill>
                  <a:srgbClr val="E8ECF4"/>
                </a:solidFill>
                <a:latin typeface="Segoe UI"/>
              </a:rPr>
              <a:t>Interpret displacement error data</a:t>
            </a:r>
          </a:p>
          <a:p>
            <a:pPr>
              <a:spcAft>
                <a:spcPts val="600"/>
              </a:spcAft>
            </a:pPr>
            <a:r>
              <a:rPr sz="1200" b="1">
                <a:solidFill>
                  <a:srgbClr val="7B2FF7"/>
                </a:solidFill>
                <a:latin typeface="Consolas"/>
              </a:rPr>
              <a:t>●  </a:t>
            </a:r>
            <a:r>
              <a:rPr sz="1200">
                <a:solidFill>
                  <a:srgbClr val="E8ECF4"/>
                </a:solidFill>
                <a:latin typeface="Segoe UI"/>
              </a:rPr>
              <a:t>Identify motor stall conditions</a:t>
            </a:r>
          </a:p>
        </p:txBody>
      </p:sp>
      <p:sp>
        <p:nvSpPr>
          <p:cNvPr id="9" name="Rounded Rectangle 8"/>
          <p:cNvSpPr/>
          <p:nvPr/>
        </p:nvSpPr>
        <p:spPr>
          <a:xfrm>
            <a:off x="6583680" y="3657600"/>
            <a:ext cx="4846320" cy="2743200"/>
          </a:xfrm>
          <a:prstGeom prst="roundRect">
            <a:avLst/>
          </a:prstGeom>
          <a:solidFill>
            <a:srgbClr val="1A2336"/>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0" y="3794760"/>
            <a:ext cx="4297680" cy="365760"/>
          </a:xfrm>
          <a:prstGeom prst="rect">
            <a:avLst/>
          </a:prstGeom>
          <a:noFill/>
        </p:spPr>
        <p:txBody>
          <a:bodyPr wrap="square">
            <a:spAutoFit/>
          </a:bodyPr>
          <a:lstStyle/>
          <a:p>
            <a:pPr algn="l">
              <a:defRPr sz="1600" b="1">
                <a:solidFill>
                  <a:srgbClr val="FF9800"/>
                </a:solidFill>
                <a:latin typeface="Segoe UI"/>
              </a:defRPr>
            </a:pPr>
            <a:r>
              <a:t>Prerequisites</a:t>
            </a:r>
          </a:p>
        </p:txBody>
      </p:sp>
      <p:sp>
        <p:nvSpPr>
          <p:cNvPr id="11" name="TextBox 10"/>
          <p:cNvSpPr txBox="1"/>
          <p:nvPr/>
        </p:nvSpPr>
        <p:spPr>
          <a:xfrm>
            <a:off x="6858000" y="4206240"/>
            <a:ext cx="4297680" cy="1645920"/>
          </a:xfrm>
          <a:prstGeom prst="rect">
            <a:avLst/>
          </a:prstGeom>
          <a:noFill/>
        </p:spPr>
        <p:txBody>
          <a:bodyPr wrap="square">
            <a:spAutoFit/>
          </a:bodyPr>
          <a:lstStyle/>
          <a:p>
            <a:pPr>
              <a:spcAft>
                <a:spcPts val="600"/>
              </a:spcAft>
            </a:pPr>
            <a:r>
              <a:rPr sz="1200" b="1">
                <a:solidFill>
                  <a:srgbClr val="8B95A8"/>
                </a:solidFill>
                <a:latin typeface="Consolas"/>
              </a:rPr>
              <a:t>▸  </a:t>
            </a:r>
            <a:r>
              <a:rPr sz="1200">
                <a:solidFill>
                  <a:srgbClr val="E8ECF4"/>
                </a:solidFill>
                <a:latin typeface="Segoe UI"/>
              </a:rPr>
              <a:t>Basic knowledge of electric motors</a:t>
            </a:r>
          </a:p>
          <a:p>
            <a:pPr>
              <a:spcAft>
                <a:spcPts val="600"/>
              </a:spcAft>
            </a:pPr>
            <a:r>
              <a:rPr sz="1200" b="1">
                <a:solidFill>
                  <a:srgbClr val="8B95A8"/>
                </a:solidFill>
                <a:latin typeface="Consolas"/>
              </a:rPr>
              <a:t>▸  </a:t>
            </a:r>
            <a:r>
              <a:rPr sz="1200">
                <a:solidFill>
                  <a:srgbClr val="E8ECF4"/>
                </a:solidFill>
                <a:latin typeface="Segoe UI"/>
              </a:rPr>
              <a:t>Understanding of torque and force</a:t>
            </a:r>
          </a:p>
          <a:p>
            <a:pPr>
              <a:spcAft>
                <a:spcPts val="600"/>
              </a:spcAft>
            </a:pPr>
            <a:r>
              <a:rPr sz="1200" b="1">
                <a:solidFill>
                  <a:srgbClr val="8B95A8"/>
                </a:solidFill>
                <a:latin typeface="Consolas"/>
              </a:rPr>
              <a:t>▸  </a:t>
            </a:r>
            <a:r>
              <a:rPr sz="1200">
                <a:solidFill>
                  <a:srgbClr val="E8ECF4"/>
                </a:solidFill>
                <a:latin typeface="Segoe UI"/>
              </a:rPr>
              <a:t>Familiarity with Python (optional)</a:t>
            </a:r>
          </a:p>
          <a:p>
            <a:pPr>
              <a:spcAft>
                <a:spcPts val="600"/>
              </a:spcAft>
            </a:pPr>
            <a:r>
              <a:rPr sz="1200" b="1">
                <a:solidFill>
                  <a:srgbClr val="8B95A8"/>
                </a:solidFill>
                <a:latin typeface="Consolas"/>
              </a:rPr>
              <a:t>▸  </a:t>
            </a:r>
            <a:r>
              <a:rPr sz="1200">
                <a:solidFill>
                  <a:srgbClr val="E8ECF4"/>
                </a:solidFill>
                <a:latin typeface="Segoe UI"/>
              </a:rPr>
              <a:t>Basic control systems concepts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E17"/>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48640"/>
          </a:xfrm>
          <a:prstGeom prst="rect">
            <a:avLst/>
          </a:prstGeom>
          <a:noFill/>
        </p:spPr>
        <p:txBody>
          <a:bodyPr wrap="square">
            <a:spAutoFit/>
          </a:bodyPr>
          <a:lstStyle/>
          <a:p>
            <a:pPr algn="l">
              <a:defRPr sz="2400" b="1">
                <a:solidFill>
                  <a:srgbClr val="00D4FF"/>
                </a:solidFill>
                <a:latin typeface="Segoe UI"/>
              </a:defRPr>
            </a:pPr>
            <a:r>
              <a:t>1. Introduction to Stepper Motors</a:t>
            </a:r>
          </a:p>
        </p:txBody>
      </p:sp>
      <p:sp>
        <p:nvSpPr>
          <p:cNvPr id="4" name="TextBox 3"/>
          <p:cNvSpPr txBox="1"/>
          <p:nvPr/>
        </p:nvSpPr>
        <p:spPr>
          <a:xfrm>
            <a:off x="457200" y="502920"/>
            <a:ext cx="9144000" cy="320040"/>
          </a:xfrm>
          <a:prstGeom prst="rect">
            <a:avLst/>
          </a:prstGeom>
          <a:noFill/>
        </p:spPr>
        <p:txBody>
          <a:bodyPr wrap="square">
            <a:spAutoFit/>
          </a:bodyPr>
          <a:lstStyle/>
          <a:p>
            <a:pPr algn="l">
              <a:defRPr sz="1100" b="0">
                <a:solidFill>
                  <a:srgbClr val="5A6478"/>
                </a:solidFill>
                <a:latin typeface="Segoe UI"/>
              </a:defRPr>
            </a:pPr>
            <a:r>
              <a:t>Fundamentals of discrete-step rotary actuation</a:t>
            </a:r>
          </a:p>
        </p:txBody>
      </p:sp>
      <p:sp>
        <p:nvSpPr>
          <p:cNvPr id="5" name="Rounded Rectangle 4"/>
          <p:cNvSpPr/>
          <p:nvPr/>
        </p:nvSpPr>
        <p:spPr>
          <a:xfrm>
            <a:off x="457200" y="1005840"/>
            <a:ext cx="5486400" cy="182880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97280"/>
            <a:ext cx="5120640" cy="320040"/>
          </a:xfrm>
          <a:prstGeom prst="rect">
            <a:avLst/>
          </a:prstGeom>
          <a:noFill/>
        </p:spPr>
        <p:txBody>
          <a:bodyPr wrap="square">
            <a:spAutoFit/>
          </a:bodyPr>
          <a:lstStyle/>
          <a:p>
            <a:pPr algn="l">
              <a:defRPr sz="1600" b="1">
                <a:solidFill>
                  <a:srgbClr val="00D4FF"/>
                </a:solidFill>
                <a:latin typeface="Segoe UI"/>
              </a:defRPr>
            </a:pPr>
            <a:r>
              <a:t>What is a Stepper Motor?</a:t>
            </a:r>
          </a:p>
        </p:txBody>
      </p:sp>
      <p:sp>
        <p:nvSpPr>
          <p:cNvPr id="7" name="TextBox 6"/>
          <p:cNvSpPr txBox="1"/>
          <p:nvPr/>
        </p:nvSpPr>
        <p:spPr>
          <a:xfrm>
            <a:off x="640080" y="1463040"/>
            <a:ext cx="5120640" cy="1280160"/>
          </a:xfrm>
          <a:prstGeom prst="rect">
            <a:avLst/>
          </a:prstGeom>
          <a:noFill/>
        </p:spPr>
        <p:txBody>
          <a:bodyPr wrap="square">
            <a:spAutoFit/>
          </a:bodyPr>
          <a:lstStyle/>
          <a:p>
            <a:pPr algn="l">
              <a:defRPr sz="1200" b="0">
                <a:solidFill>
                  <a:srgbClr val="8B95A8"/>
                </a:solidFill>
                <a:latin typeface="Segoe UI"/>
              </a:defRPr>
            </a:pPr>
            <a:r>
              <a:t>A stepper motor is a brushless DC electric motor that divides a full rotation into a number of equal steps. It can be commanded to move and hold at any one of these steps without any position feedback sensor (open-loop control). Each step corresponds to a fixed angular displacement (e.g., 1.8°).</a:t>
            </a:r>
          </a:p>
        </p:txBody>
      </p:sp>
      <p:sp>
        <p:nvSpPr>
          <p:cNvPr id="8" name="Rounded Rectangle 7"/>
          <p:cNvSpPr/>
          <p:nvPr/>
        </p:nvSpPr>
        <p:spPr>
          <a:xfrm>
            <a:off x="457200" y="3017520"/>
            <a:ext cx="5486400" cy="347472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108960"/>
            <a:ext cx="5120640" cy="320040"/>
          </a:xfrm>
          <a:prstGeom prst="rect">
            <a:avLst/>
          </a:prstGeom>
          <a:noFill/>
        </p:spPr>
        <p:txBody>
          <a:bodyPr wrap="square">
            <a:spAutoFit/>
          </a:bodyPr>
          <a:lstStyle/>
          <a:p>
            <a:pPr algn="l">
              <a:defRPr sz="1600" b="1">
                <a:solidFill>
                  <a:srgbClr val="00D4FF"/>
                </a:solidFill>
                <a:latin typeface="Segoe UI"/>
              </a:defRPr>
            </a:pPr>
            <a:r>
              <a:t>Key Specifications</a:t>
            </a:r>
          </a:p>
        </p:txBody>
      </p:sp>
      <p:sp>
        <p:nvSpPr>
          <p:cNvPr id="10" name="TextBox 9"/>
          <p:cNvSpPr txBox="1"/>
          <p:nvPr/>
        </p:nvSpPr>
        <p:spPr>
          <a:xfrm>
            <a:off x="640080" y="3520440"/>
            <a:ext cx="5120640" cy="2743200"/>
          </a:xfrm>
          <a:prstGeom prst="rect">
            <a:avLst/>
          </a:prstGeom>
          <a:noFill/>
        </p:spPr>
        <p:txBody>
          <a:bodyPr wrap="square">
            <a:spAutoFit/>
          </a:bodyPr>
          <a:lstStyle/>
          <a:p>
            <a:pPr>
              <a:spcAft>
                <a:spcPts val="600"/>
              </a:spcAft>
            </a:pPr>
            <a:r>
              <a:rPr sz="1200" b="1">
                <a:solidFill>
                  <a:srgbClr val="00E676"/>
                </a:solidFill>
                <a:latin typeface="Consolas"/>
              </a:rPr>
              <a:t>●  </a:t>
            </a:r>
            <a:r>
              <a:rPr sz="1200">
                <a:solidFill>
                  <a:srgbClr val="E8ECF4"/>
                </a:solidFill>
                <a:latin typeface="Segoe UI"/>
              </a:rPr>
              <a:t>Step Angle: 1.8° (200 steps per revolution)</a:t>
            </a:r>
          </a:p>
          <a:p>
            <a:pPr>
              <a:spcAft>
                <a:spcPts val="600"/>
              </a:spcAft>
            </a:pPr>
            <a:r>
              <a:rPr sz="1200" b="1">
                <a:solidFill>
                  <a:srgbClr val="00E676"/>
                </a:solidFill>
                <a:latin typeface="Consolas"/>
              </a:rPr>
              <a:t>●  </a:t>
            </a:r>
            <a:r>
              <a:rPr sz="1200">
                <a:solidFill>
                  <a:srgbClr val="E8ECF4"/>
                </a:solidFill>
                <a:latin typeface="Segoe UI"/>
              </a:rPr>
              <a:t>Pulses Per Revolution (PPR): 200</a:t>
            </a:r>
          </a:p>
          <a:p>
            <a:pPr>
              <a:spcAft>
                <a:spcPts val="600"/>
              </a:spcAft>
            </a:pPr>
            <a:r>
              <a:rPr sz="1200" b="1">
                <a:solidFill>
                  <a:srgbClr val="FF9800"/>
                </a:solidFill>
                <a:latin typeface="Consolas"/>
              </a:rPr>
              <a:t>●  </a:t>
            </a:r>
            <a:r>
              <a:rPr sz="1200">
                <a:solidFill>
                  <a:srgbClr val="E8ECF4"/>
                </a:solidFill>
                <a:latin typeface="Segoe UI"/>
              </a:rPr>
              <a:t>Holding Torque: 1.0 Nm (simulation parameter)</a:t>
            </a:r>
          </a:p>
          <a:p>
            <a:pPr>
              <a:spcAft>
                <a:spcPts val="600"/>
              </a:spcAft>
            </a:pPr>
            <a:r>
              <a:rPr sz="1200" b="1">
                <a:solidFill>
                  <a:srgbClr val="FF4060"/>
                </a:solidFill>
                <a:latin typeface="Consolas"/>
              </a:rPr>
              <a:t>●  </a:t>
            </a:r>
            <a:r>
              <a:rPr sz="1200">
                <a:solidFill>
                  <a:srgbClr val="E8ECF4"/>
                </a:solidFill>
                <a:latin typeface="Segoe UI"/>
              </a:rPr>
              <a:t>Control: Open-loop — no encoder feedback</a:t>
            </a:r>
          </a:p>
          <a:p>
            <a:pPr>
              <a:spcAft>
                <a:spcPts val="600"/>
              </a:spcAft>
            </a:pPr>
            <a:r>
              <a:rPr sz="1200" b="1">
                <a:solidFill>
                  <a:srgbClr val="00D4FF"/>
                </a:solidFill>
                <a:latin typeface="Consolas"/>
              </a:rPr>
              <a:t>●  </a:t>
            </a:r>
            <a:r>
              <a:rPr sz="1200">
                <a:solidFill>
                  <a:srgbClr val="E8ECF4"/>
                </a:solidFill>
                <a:latin typeface="Segoe UI"/>
              </a:rPr>
              <a:t>Drive Method: Pulse/direction digital signals</a:t>
            </a:r>
          </a:p>
          <a:p>
            <a:pPr>
              <a:spcAft>
                <a:spcPts val="600"/>
              </a:spcAft>
            </a:pPr>
            <a:r>
              <a:rPr sz="1200" b="1">
                <a:solidFill>
                  <a:srgbClr val="8B95A8"/>
                </a:solidFill>
                <a:latin typeface="Consolas"/>
              </a:rPr>
              <a:t>●  </a:t>
            </a:r>
            <a:r>
              <a:rPr sz="1200">
                <a:solidFill>
                  <a:srgbClr val="E8ECF4"/>
                </a:solidFill>
                <a:latin typeface="Segoe UI"/>
              </a:rPr>
              <a:t>Type Used: NEMA-23 hybrid stepper</a:t>
            </a:r>
          </a:p>
        </p:txBody>
      </p:sp>
      <p:sp>
        <p:nvSpPr>
          <p:cNvPr id="11" name="Rounded Rectangle 10"/>
          <p:cNvSpPr/>
          <p:nvPr/>
        </p:nvSpPr>
        <p:spPr>
          <a:xfrm>
            <a:off x="6400800" y="1005840"/>
            <a:ext cx="5303520" cy="5486400"/>
          </a:xfrm>
          <a:prstGeom prst="roundRect">
            <a:avLst/>
          </a:prstGeom>
          <a:solidFill>
            <a:srgbClr val="1A2336"/>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097280"/>
            <a:ext cx="4754880" cy="320040"/>
          </a:xfrm>
          <a:prstGeom prst="rect">
            <a:avLst/>
          </a:prstGeom>
          <a:noFill/>
        </p:spPr>
        <p:txBody>
          <a:bodyPr wrap="square">
            <a:spAutoFit/>
          </a:bodyPr>
          <a:lstStyle/>
          <a:p>
            <a:pPr algn="l">
              <a:defRPr sz="1600" b="1">
                <a:solidFill>
                  <a:srgbClr val="FF9800"/>
                </a:solidFill>
                <a:latin typeface="Segoe UI"/>
              </a:defRPr>
            </a:pPr>
            <a:r>
              <a:t>Types of Stepper Motors</a:t>
            </a:r>
          </a:p>
        </p:txBody>
      </p:sp>
      <p:sp>
        <p:nvSpPr>
          <p:cNvPr id="13" name="TextBox 12"/>
          <p:cNvSpPr txBox="1"/>
          <p:nvPr/>
        </p:nvSpPr>
        <p:spPr>
          <a:xfrm>
            <a:off x="6675120" y="1508760"/>
            <a:ext cx="4754880" cy="2286000"/>
          </a:xfrm>
          <a:prstGeom prst="rect">
            <a:avLst/>
          </a:prstGeom>
          <a:noFill/>
        </p:spPr>
        <p:txBody>
          <a:bodyPr wrap="square">
            <a:spAutoFit/>
          </a:bodyPr>
          <a:lstStyle/>
          <a:p>
            <a:pPr>
              <a:spcAft>
                <a:spcPts val="600"/>
              </a:spcAft>
            </a:pPr>
            <a:r>
              <a:rPr sz="1200" b="1">
                <a:solidFill>
                  <a:srgbClr val="00D4FF"/>
                </a:solidFill>
                <a:latin typeface="Consolas"/>
              </a:rPr>
              <a:t>1.  </a:t>
            </a:r>
            <a:r>
              <a:rPr sz="1200">
                <a:solidFill>
                  <a:srgbClr val="E8ECF4"/>
                </a:solidFill>
                <a:latin typeface="Segoe UI"/>
              </a:rPr>
              <a:t>Variable Reluctance (VR)</a:t>
            </a:r>
          </a:p>
          <a:p>
            <a:pPr>
              <a:spcAft>
                <a:spcPts val="600"/>
              </a:spcAft>
            </a:pPr>
            <a:r>
              <a:rPr sz="1200" b="1">
                <a:solidFill>
                  <a:srgbClr val="8B95A8"/>
                </a:solidFill>
                <a:latin typeface="Consolas"/>
              </a:rPr>
              <a:t>  </a:t>
            </a:r>
            <a:r>
              <a:rPr sz="1200">
                <a:solidFill>
                  <a:srgbClr val="E8ECF4"/>
                </a:solidFill>
                <a:latin typeface="Segoe UI"/>
              </a:rPr>
              <a:t>  → Simple construction, low torque</a:t>
            </a:r>
          </a:p>
          <a:p>
            <a:pPr>
              <a:spcAft>
                <a:spcPts val="600"/>
              </a:spcAft>
            </a:pPr>
            <a:r>
              <a:rPr sz="1200" b="1">
                <a:solidFill>
                  <a:srgbClr val="00D4FF"/>
                </a:solidFill>
                <a:latin typeface="Consolas"/>
              </a:rPr>
              <a:t>2.  </a:t>
            </a:r>
            <a:r>
              <a:rPr sz="1200">
                <a:solidFill>
                  <a:srgbClr val="E8ECF4"/>
                </a:solidFill>
                <a:latin typeface="Segoe UI"/>
              </a:rPr>
              <a:t>Permanent Magnet (PM)</a:t>
            </a:r>
          </a:p>
          <a:p>
            <a:pPr>
              <a:spcAft>
                <a:spcPts val="600"/>
              </a:spcAft>
            </a:pPr>
            <a:r>
              <a:rPr sz="1200" b="1">
                <a:solidFill>
                  <a:srgbClr val="8B95A8"/>
                </a:solidFill>
                <a:latin typeface="Consolas"/>
              </a:rPr>
              <a:t>  </a:t>
            </a:r>
            <a:r>
              <a:rPr sz="1200">
                <a:solidFill>
                  <a:srgbClr val="E8ECF4"/>
                </a:solidFill>
                <a:latin typeface="Segoe UI"/>
              </a:rPr>
              <a:t>  → Better torque, lower resolution</a:t>
            </a:r>
          </a:p>
          <a:p>
            <a:pPr>
              <a:spcAft>
                <a:spcPts val="600"/>
              </a:spcAft>
            </a:pPr>
            <a:r>
              <a:rPr sz="1200" b="1">
                <a:solidFill>
                  <a:srgbClr val="00E676"/>
                </a:solidFill>
                <a:latin typeface="Consolas"/>
              </a:rPr>
              <a:t>3.  </a:t>
            </a:r>
            <a:r>
              <a:rPr sz="1200">
                <a:solidFill>
                  <a:srgbClr val="E8ECF4"/>
                </a:solidFill>
                <a:latin typeface="Segoe UI"/>
              </a:rPr>
              <a:t>Hybrid Stepper (Used in this simulation)</a:t>
            </a:r>
          </a:p>
          <a:p>
            <a:pPr>
              <a:spcAft>
                <a:spcPts val="600"/>
              </a:spcAft>
            </a:pPr>
            <a:r>
              <a:rPr sz="1200" b="1">
                <a:solidFill>
                  <a:srgbClr val="8B95A8"/>
                </a:solidFill>
                <a:latin typeface="Consolas"/>
              </a:rPr>
              <a:t>  </a:t>
            </a:r>
            <a:r>
              <a:rPr sz="1200">
                <a:solidFill>
                  <a:srgbClr val="E8ECF4"/>
                </a:solidFill>
                <a:latin typeface="Segoe UI"/>
              </a:rPr>
              <a:t>  → Combines VR and PM advantages</a:t>
            </a:r>
          </a:p>
          <a:p>
            <a:pPr>
              <a:spcAft>
                <a:spcPts val="600"/>
              </a:spcAft>
            </a:pPr>
            <a:r>
              <a:rPr sz="1200" b="1">
                <a:solidFill>
                  <a:srgbClr val="8B95A8"/>
                </a:solidFill>
                <a:latin typeface="Consolas"/>
              </a:rPr>
              <a:t>  </a:t>
            </a:r>
            <a:r>
              <a:rPr sz="1200">
                <a:solidFill>
                  <a:srgbClr val="E8ECF4"/>
                </a:solidFill>
                <a:latin typeface="Segoe UI"/>
              </a:rPr>
              <a:t>  → High torque + high resolution</a:t>
            </a:r>
          </a:p>
          <a:p>
            <a:pPr>
              <a:spcAft>
                <a:spcPts val="600"/>
              </a:spcAft>
            </a:pPr>
            <a:r>
              <a:rPr sz="1200" b="1">
                <a:solidFill>
                  <a:srgbClr val="8B95A8"/>
                </a:solidFill>
                <a:latin typeface="Consolas"/>
              </a:rPr>
              <a:t>  </a:t>
            </a:r>
            <a:r>
              <a:rPr sz="1200">
                <a:solidFill>
                  <a:srgbClr val="E8ECF4"/>
                </a:solidFill>
                <a:latin typeface="Segoe UI"/>
              </a:rPr>
              <a:t>  → Most common in CNC, 3D printers</a:t>
            </a:r>
          </a:p>
        </p:txBody>
      </p:sp>
      <p:sp>
        <p:nvSpPr>
          <p:cNvPr id="14" name="TextBox 13"/>
          <p:cNvSpPr txBox="1"/>
          <p:nvPr/>
        </p:nvSpPr>
        <p:spPr>
          <a:xfrm>
            <a:off x="6675120" y="3657600"/>
            <a:ext cx="4754880" cy="320040"/>
          </a:xfrm>
          <a:prstGeom prst="rect">
            <a:avLst/>
          </a:prstGeom>
          <a:noFill/>
        </p:spPr>
        <p:txBody>
          <a:bodyPr wrap="square">
            <a:spAutoFit/>
          </a:bodyPr>
          <a:lstStyle/>
          <a:p>
            <a:pPr algn="l">
              <a:defRPr sz="1400" b="1">
                <a:solidFill>
                  <a:srgbClr val="FF9800"/>
                </a:solidFill>
                <a:latin typeface="Segoe UI"/>
              </a:defRPr>
            </a:pPr>
            <a:r>
              <a:t>How Stepping Works</a:t>
            </a:r>
          </a:p>
        </p:txBody>
      </p:sp>
      <p:sp>
        <p:nvSpPr>
          <p:cNvPr id="15" name="TextBox 14"/>
          <p:cNvSpPr txBox="1"/>
          <p:nvPr/>
        </p:nvSpPr>
        <p:spPr>
          <a:xfrm>
            <a:off x="6675120" y="4023360"/>
            <a:ext cx="4754880" cy="2286000"/>
          </a:xfrm>
          <a:prstGeom prst="rect">
            <a:avLst/>
          </a:prstGeom>
          <a:noFill/>
        </p:spPr>
        <p:txBody>
          <a:bodyPr wrap="square">
            <a:spAutoFit/>
          </a:bodyPr>
          <a:lstStyle/>
          <a:p>
            <a:pPr algn="l">
              <a:defRPr sz="1200" b="0">
                <a:solidFill>
                  <a:srgbClr val="8B95A8"/>
                </a:solidFill>
                <a:latin typeface="Segoe UI"/>
              </a:defRPr>
            </a:pPr>
            <a:r>
              <a:t>Each electrical pulse sent to the motor driver causes the rotor to advance by exactly one step angle (1.8° for 200-step motor).</a:t>
            </a:r>
            <a:br/>
            <a:br/>
            <a:r>
              <a:t>Full rotation = 200 pulses × 1.8° = 360°</a:t>
            </a:r>
            <a:br/>
            <a:br/>
            <a:r>
              <a:t>The pulse frequency determines the rotation speed (RPM).</a:t>
            </a:r>
            <a:br/>
            <a:r>
              <a:t>RPM = (Frequency × 60) / PPR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E17"/>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48640"/>
          </a:xfrm>
          <a:prstGeom prst="rect">
            <a:avLst/>
          </a:prstGeom>
          <a:noFill/>
        </p:spPr>
        <p:txBody>
          <a:bodyPr wrap="square">
            <a:spAutoFit/>
          </a:bodyPr>
          <a:lstStyle/>
          <a:p>
            <a:pPr algn="l">
              <a:defRPr sz="2400" b="1">
                <a:solidFill>
                  <a:srgbClr val="00D4FF"/>
                </a:solidFill>
                <a:latin typeface="Segoe UI"/>
              </a:defRPr>
            </a:pPr>
            <a:r>
              <a:t>2. Open-Loop vs Closed-Loop Control</a:t>
            </a:r>
          </a:p>
        </p:txBody>
      </p:sp>
      <p:sp>
        <p:nvSpPr>
          <p:cNvPr id="4" name="TextBox 3"/>
          <p:cNvSpPr txBox="1"/>
          <p:nvPr/>
        </p:nvSpPr>
        <p:spPr>
          <a:xfrm>
            <a:off x="457200" y="502920"/>
            <a:ext cx="9144000" cy="320040"/>
          </a:xfrm>
          <a:prstGeom prst="rect">
            <a:avLst/>
          </a:prstGeom>
          <a:noFill/>
        </p:spPr>
        <p:txBody>
          <a:bodyPr wrap="square">
            <a:spAutoFit/>
          </a:bodyPr>
          <a:lstStyle/>
          <a:p>
            <a:pPr algn="l">
              <a:defRPr sz="1100" b="0">
                <a:solidFill>
                  <a:srgbClr val="5A6478"/>
                </a:solidFill>
                <a:latin typeface="Segoe UI"/>
              </a:defRPr>
            </a:pPr>
            <a:r>
              <a:t>Understanding why step loss occurs in open-loop systems</a:t>
            </a:r>
          </a:p>
        </p:txBody>
      </p:sp>
      <p:sp>
        <p:nvSpPr>
          <p:cNvPr id="5" name="Rounded Rectangle 4"/>
          <p:cNvSpPr/>
          <p:nvPr/>
        </p:nvSpPr>
        <p:spPr>
          <a:xfrm>
            <a:off x="457200" y="1005840"/>
            <a:ext cx="5394960" cy="530352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97280"/>
            <a:ext cx="5029200" cy="320040"/>
          </a:xfrm>
          <a:prstGeom prst="rect">
            <a:avLst/>
          </a:prstGeom>
          <a:noFill/>
        </p:spPr>
        <p:txBody>
          <a:bodyPr wrap="square">
            <a:spAutoFit/>
          </a:bodyPr>
          <a:lstStyle/>
          <a:p>
            <a:pPr algn="l">
              <a:defRPr sz="1800" b="1">
                <a:solidFill>
                  <a:srgbClr val="FF4060"/>
                </a:solidFill>
                <a:latin typeface="Segoe UI"/>
              </a:defRPr>
            </a:pPr>
            <a:r>
              <a:t>Open-Loop Control</a:t>
            </a:r>
          </a:p>
        </p:txBody>
      </p:sp>
      <p:sp>
        <p:nvSpPr>
          <p:cNvPr id="7" name="TextBox 6"/>
          <p:cNvSpPr txBox="1"/>
          <p:nvPr/>
        </p:nvSpPr>
        <p:spPr>
          <a:xfrm>
            <a:off x="640080" y="1508760"/>
            <a:ext cx="5029200" cy="274320"/>
          </a:xfrm>
          <a:prstGeom prst="rect">
            <a:avLst/>
          </a:prstGeom>
          <a:noFill/>
        </p:spPr>
        <p:txBody>
          <a:bodyPr wrap="square">
            <a:spAutoFit/>
          </a:bodyPr>
          <a:lstStyle/>
          <a:p>
            <a:pPr algn="l">
              <a:defRPr sz="1100" b="0">
                <a:solidFill>
                  <a:srgbClr val="5A6478"/>
                </a:solidFill>
                <a:latin typeface="Segoe UI"/>
              </a:defRPr>
            </a:pPr>
            <a:r>
              <a:t>(Used in this simulation)</a:t>
            </a:r>
          </a:p>
        </p:txBody>
      </p:sp>
      <p:sp>
        <p:nvSpPr>
          <p:cNvPr id="8" name="TextBox 7"/>
          <p:cNvSpPr txBox="1"/>
          <p:nvPr/>
        </p:nvSpPr>
        <p:spPr>
          <a:xfrm>
            <a:off x="640080" y="1920240"/>
            <a:ext cx="5029200" cy="2743200"/>
          </a:xfrm>
          <a:prstGeom prst="rect">
            <a:avLst/>
          </a:prstGeom>
          <a:noFill/>
        </p:spPr>
        <p:txBody>
          <a:bodyPr wrap="square">
            <a:spAutoFit/>
          </a:bodyPr>
          <a:lstStyle/>
          <a:p>
            <a:pPr>
              <a:spcAft>
                <a:spcPts val="600"/>
              </a:spcAft>
            </a:pPr>
            <a:r>
              <a:rPr sz="1300" b="1">
                <a:solidFill>
                  <a:srgbClr val="FF4060"/>
                </a:solidFill>
                <a:latin typeface="Consolas"/>
              </a:rPr>
              <a:t>✗  </a:t>
            </a:r>
            <a:r>
              <a:rPr sz="1300">
                <a:solidFill>
                  <a:srgbClr val="E8ECF4"/>
                </a:solidFill>
                <a:latin typeface="Segoe UI"/>
              </a:rPr>
              <a:t>No position feedback sensor</a:t>
            </a:r>
          </a:p>
          <a:p>
            <a:pPr>
              <a:spcAft>
                <a:spcPts val="600"/>
              </a:spcAft>
            </a:pPr>
            <a:r>
              <a:rPr sz="1300" b="1">
                <a:solidFill>
                  <a:srgbClr val="FF4060"/>
                </a:solidFill>
                <a:latin typeface="Consolas"/>
              </a:rPr>
              <a:t>✗  </a:t>
            </a:r>
            <a:r>
              <a:rPr sz="1300">
                <a:solidFill>
                  <a:srgbClr val="E8ECF4"/>
                </a:solidFill>
                <a:latin typeface="Segoe UI"/>
              </a:rPr>
              <a:t>Controller assumes all steps executed</a:t>
            </a:r>
          </a:p>
          <a:p>
            <a:pPr>
              <a:spcAft>
                <a:spcPts val="600"/>
              </a:spcAft>
            </a:pPr>
            <a:r>
              <a:rPr sz="1300" b="1">
                <a:solidFill>
                  <a:srgbClr val="FF4060"/>
                </a:solidFill>
                <a:latin typeface="Consolas"/>
              </a:rPr>
              <a:t>✗  </a:t>
            </a:r>
            <a:r>
              <a:rPr sz="1300">
                <a:solidFill>
                  <a:srgbClr val="E8ECF4"/>
                </a:solidFill>
                <a:latin typeface="Segoe UI"/>
              </a:rPr>
              <a:t>Cannot detect or correct step loss</a:t>
            </a:r>
          </a:p>
          <a:p>
            <a:pPr>
              <a:spcAft>
                <a:spcPts val="600"/>
              </a:spcAft>
            </a:pPr>
            <a:r>
              <a:rPr sz="1300" b="1">
                <a:solidFill>
                  <a:srgbClr val="FF4060"/>
                </a:solidFill>
                <a:latin typeface="Consolas"/>
              </a:rPr>
              <a:t>✗  </a:t>
            </a:r>
            <a:r>
              <a:rPr sz="1300">
                <a:solidFill>
                  <a:srgbClr val="E8ECF4"/>
                </a:solidFill>
                <a:latin typeface="Segoe UI"/>
              </a:rPr>
              <a:t>Fails under excessive load</a:t>
            </a:r>
          </a:p>
          <a:p>
            <a:pPr>
              <a:spcAft>
                <a:spcPts val="600"/>
              </a:spcAft>
            </a:pPr>
            <a:r>
              <a:rPr sz="1300" b="1">
                <a:solidFill>
                  <a:srgbClr val="00E676"/>
                </a:solidFill>
                <a:latin typeface="Consolas"/>
              </a:rPr>
              <a:t>✓  </a:t>
            </a:r>
            <a:r>
              <a:rPr sz="1300">
                <a:solidFill>
                  <a:srgbClr val="E8ECF4"/>
                </a:solidFill>
                <a:latin typeface="Segoe UI"/>
              </a:rPr>
              <a:t>Simple wiring — pulse &amp; direction only</a:t>
            </a:r>
          </a:p>
          <a:p>
            <a:pPr>
              <a:spcAft>
                <a:spcPts val="600"/>
              </a:spcAft>
            </a:pPr>
            <a:r>
              <a:rPr sz="1300" b="1">
                <a:solidFill>
                  <a:srgbClr val="00E676"/>
                </a:solidFill>
                <a:latin typeface="Consolas"/>
              </a:rPr>
              <a:t>✓  </a:t>
            </a:r>
            <a:r>
              <a:rPr sz="1300">
                <a:solidFill>
                  <a:srgbClr val="E8ECF4"/>
                </a:solidFill>
                <a:latin typeface="Segoe UI"/>
              </a:rPr>
              <a:t>Lower cost — no encoder needed</a:t>
            </a:r>
          </a:p>
          <a:p>
            <a:pPr>
              <a:spcAft>
                <a:spcPts val="600"/>
              </a:spcAft>
            </a:pPr>
            <a:r>
              <a:rPr sz="1300" b="1">
                <a:solidFill>
                  <a:srgbClr val="00E676"/>
                </a:solidFill>
                <a:latin typeface="Consolas"/>
              </a:rPr>
              <a:t>✓  </a:t>
            </a:r>
            <a:r>
              <a:rPr sz="1300">
                <a:solidFill>
                  <a:srgbClr val="E8ECF4"/>
                </a:solidFill>
                <a:latin typeface="Segoe UI"/>
              </a:rPr>
              <a:t>Works well within torque limits</a:t>
            </a:r>
          </a:p>
        </p:txBody>
      </p:sp>
      <p:sp>
        <p:nvSpPr>
          <p:cNvPr id="9" name="Rounded Rectangle 8"/>
          <p:cNvSpPr/>
          <p:nvPr/>
        </p:nvSpPr>
        <p:spPr>
          <a:xfrm>
            <a:off x="640080" y="4846320"/>
            <a:ext cx="5029200" cy="1097280"/>
          </a:xfrm>
          <a:prstGeom prst="roundRect">
            <a:avLst/>
          </a:prstGeom>
          <a:solidFill>
            <a:srgbClr val="281E0D"/>
          </a:solidFill>
          <a:ln w="12700">
            <a:solidFill>
              <a:srgbClr val="FF9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919472"/>
            <a:ext cx="4754880" cy="950976"/>
          </a:xfrm>
          <a:prstGeom prst="rect">
            <a:avLst/>
          </a:prstGeom>
          <a:noFill/>
        </p:spPr>
        <p:txBody>
          <a:bodyPr wrap="square">
            <a:spAutoFit/>
          </a:bodyPr>
          <a:lstStyle/>
          <a:p>
            <a:pPr algn="l">
              <a:defRPr sz="1100" b="0">
                <a:solidFill>
                  <a:srgbClr val="FF9800"/>
                </a:solidFill>
                <a:latin typeface="Segoe UI"/>
              </a:defRPr>
            </a:pPr>
            <a:r>
              <a:t>⚠ KEY PROBLEM: If the load torque exceeds the motor's holding torque, steps are lost — the controller doesn't know, leading to positioning errors!</a:t>
            </a:r>
          </a:p>
        </p:txBody>
      </p:sp>
      <p:sp>
        <p:nvSpPr>
          <p:cNvPr id="11" name="Rounded Rectangle 10"/>
          <p:cNvSpPr/>
          <p:nvPr/>
        </p:nvSpPr>
        <p:spPr>
          <a:xfrm>
            <a:off x="6309360" y="1005840"/>
            <a:ext cx="5394960" cy="530352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097280"/>
            <a:ext cx="5029200" cy="320040"/>
          </a:xfrm>
          <a:prstGeom prst="rect">
            <a:avLst/>
          </a:prstGeom>
          <a:noFill/>
        </p:spPr>
        <p:txBody>
          <a:bodyPr wrap="square">
            <a:spAutoFit/>
          </a:bodyPr>
          <a:lstStyle/>
          <a:p>
            <a:pPr algn="l">
              <a:defRPr sz="1800" b="1">
                <a:solidFill>
                  <a:srgbClr val="00E676"/>
                </a:solidFill>
                <a:latin typeface="Segoe UI"/>
              </a:defRPr>
            </a:pPr>
            <a:r>
              <a:t>Closed-Loop Control</a:t>
            </a:r>
          </a:p>
        </p:txBody>
      </p:sp>
      <p:sp>
        <p:nvSpPr>
          <p:cNvPr id="13" name="TextBox 12"/>
          <p:cNvSpPr txBox="1"/>
          <p:nvPr/>
        </p:nvSpPr>
        <p:spPr>
          <a:xfrm>
            <a:off x="6492240" y="1508760"/>
            <a:ext cx="5029200" cy="274320"/>
          </a:xfrm>
          <a:prstGeom prst="rect">
            <a:avLst/>
          </a:prstGeom>
          <a:noFill/>
        </p:spPr>
        <p:txBody>
          <a:bodyPr wrap="square">
            <a:spAutoFit/>
          </a:bodyPr>
          <a:lstStyle/>
          <a:p>
            <a:pPr algn="l">
              <a:defRPr sz="1100" b="0">
                <a:solidFill>
                  <a:srgbClr val="5A6478"/>
                </a:solidFill>
                <a:latin typeface="Segoe UI"/>
              </a:defRPr>
            </a:pPr>
            <a:r>
              <a:t>(For comparison — not simulated)</a:t>
            </a:r>
          </a:p>
        </p:txBody>
      </p:sp>
      <p:sp>
        <p:nvSpPr>
          <p:cNvPr id="14" name="TextBox 13"/>
          <p:cNvSpPr txBox="1"/>
          <p:nvPr/>
        </p:nvSpPr>
        <p:spPr>
          <a:xfrm>
            <a:off x="6492240" y="1920240"/>
            <a:ext cx="5029200" cy="2743200"/>
          </a:xfrm>
          <a:prstGeom prst="rect">
            <a:avLst/>
          </a:prstGeom>
          <a:noFill/>
        </p:spPr>
        <p:txBody>
          <a:bodyPr wrap="square">
            <a:spAutoFit/>
          </a:bodyPr>
          <a:lstStyle/>
          <a:p>
            <a:pPr>
              <a:spcAft>
                <a:spcPts val="600"/>
              </a:spcAft>
            </a:pPr>
            <a:r>
              <a:rPr sz="1300" b="1">
                <a:solidFill>
                  <a:srgbClr val="00E676"/>
                </a:solidFill>
                <a:latin typeface="Consolas"/>
              </a:rPr>
              <a:t>✓  </a:t>
            </a:r>
            <a:r>
              <a:rPr sz="1300">
                <a:solidFill>
                  <a:srgbClr val="E8ECF4"/>
                </a:solidFill>
                <a:latin typeface="Segoe UI"/>
              </a:rPr>
              <a:t>Has position feedback (encoder)</a:t>
            </a:r>
          </a:p>
          <a:p>
            <a:pPr>
              <a:spcAft>
                <a:spcPts val="600"/>
              </a:spcAft>
            </a:pPr>
            <a:r>
              <a:rPr sz="1300" b="1">
                <a:solidFill>
                  <a:srgbClr val="00E676"/>
                </a:solidFill>
                <a:latin typeface="Consolas"/>
              </a:rPr>
              <a:t>✓  </a:t>
            </a:r>
            <a:r>
              <a:rPr sz="1300">
                <a:solidFill>
                  <a:srgbClr val="E8ECF4"/>
                </a:solidFill>
                <a:latin typeface="Segoe UI"/>
              </a:rPr>
              <a:t>Controller verifies step execution</a:t>
            </a:r>
          </a:p>
          <a:p>
            <a:pPr>
              <a:spcAft>
                <a:spcPts val="600"/>
              </a:spcAft>
            </a:pPr>
            <a:r>
              <a:rPr sz="1300" b="1">
                <a:solidFill>
                  <a:srgbClr val="00E676"/>
                </a:solidFill>
                <a:latin typeface="Consolas"/>
              </a:rPr>
              <a:t>✓  </a:t>
            </a:r>
            <a:r>
              <a:rPr sz="1300">
                <a:solidFill>
                  <a:srgbClr val="E8ECF4"/>
                </a:solidFill>
                <a:latin typeface="Segoe UI"/>
              </a:rPr>
              <a:t>Detects and corrects step loss</a:t>
            </a:r>
          </a:p>
          <a:p>
            <a:pPr>
              <a:spcAft>
                <a:spcPts val="600"/>
              </a:spcAft>
            </a:pPr>
            <a:r>
              <a:rPr sz="1300" b="1">
                <a:solidFill>
                  <a:srgbClr val="00E676"/>
                </a:solidFill>
                <a:latin typeface="Consolas"/>
              </a:rPr>
              <a:t>✓  </a:t>
            </a:r>
            <a:r>
              <a:rPr sz="1300">
                <a:solidFill>
                  <a:srgbClr val="E8ECF4"/>
                </a:solidFill>
                <a:latin typeface="Segoe UI"/>
              </a:rPr>
              <a:t>Reliable under variable loads</a:t>
            </a:r>
          </a:p>
          <a:p>
            <a:pPr>
              <a:spcAft>
                <a:spcPts val="600"/>
              </a:spcAft>
            </a:pPr>
            <a:r>
              <a:rPr sz="1300" b="1">
                <a:solidFill>
                  <a:srgbClr val="FF4060"/>
                </a:solidFill>
                <a:latin typeface="Consolas"/>
              </a:rPr>
              <a:t>✗  </a:t>
            </a:r>
            <a:r>
              <a:rPr sz="1300">
                <a:solidFill>
                  <a:srgbClr val="E8ECF4"/>
                </a:solidFill>
                <a:latin typeface="Segoe UI"/>
              </a:rPr>
              <a:t>Higher cost — requires encoder</a:t>
            </a:r>
          </a:p>
          <a:p>
            <a:pPr>
              <a:spcAft>
                <a:spcPts val="600"/>
              </a:spcAft>
            </a:pPr>
            <a:r>
              <a:rPr sz="1300" b="1">
                <a:solidFill>
                  <a:srgbClr val="FF4060"/>
                </a:solidFill>
                <a:latin typeface="Consolas"/>
              </a:rPr>
              <a:t>✗  </a:t>
            </a:r>
            <a:r>
              <a:rPr sz="1300">
                <a:solidFill>
                  <a:srgbClr val="E8ECF4"/>
                </a:solidFill>
                <a:latin typeface="Segoe UI"/>
              </a:rPr>
              <a:t>More complex wiring &amp; firmware</a:t>
            </a:r>
          </a:p>
          <a:p>
            <a:pPr>
              <a:spcAft>
                <a:spcPts val="600"/>
              </a:spcAft>
            </a:pPr>
            <a:r>
              <a:rPr sz="1300" b="1">
                <a:solidFill>
                  <a:srgbClr val="FF4060"/>
                </a:solidFill>
                <a:latin typeface="Consolas"/>
              </a:rPr>
              <a:t>✗  </a:t>
            </a:r>
            <a:r>
              <a:rPr sz="1300">
                <a:solidFill>
                  <a:srgbClr val="E8ECF4"/>
                </a:solidFill>
                <a:latin typeface="Segoe UI"/>
              </a:rPr>
              <a:t>Needs PID tuning</a:t>
            </a:r>
          </a:p>
        </p:txBody>
      </p:sp>
      <p:sp>
        <p:nvSpPr>
          <p:cNvPr id="15" name="Rounded Rectangle 14"/>
          <p:cNvSpPr/>
          <p:nvPr/>
        </p:nvSpPr>
        <p:spPr>
          <a:xfrm>
            <a:off x="6492240" y="4846320"/>
            <a:ext cx="5029200" cy="1097280"/>
          </a:xfrm>
          <a:prstGeom prst="roundRect">
            <a:avLst/>
          </a:prstGeom>
          <a:solidFill>
            <a:srgbClr val="0D2818"/>
          </a:solidFill>
          <a:ln w="1270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4919472"/>
            <a:ext cx="4754880" cy="950976"/>
          </a:xfrm>
          <a:prstGeom prst="rect">
            <a:avLst/>
          </a:prstGeom>
          <a:noFill/>
        </p:spPr>
        <p:txBody>
          <a:bodyPr wrap="square">
            <a:spAutoFit/>
          </a:bodyPr>
          <a:lstStyle/>
          <a:p>
            <a:pPr algn="l">
              <a:defRPr sz="1100" b="0">
                <a:solidFill>
                  <a:srgbClr val="00E676"/>
                </a:solidFill>
                <a:latin typeface="Segoe UI"/>
              </a:defRPr>
            </a:pPr>
            <a:r>
              <a:t>✓ ADVANTAGE: Closed-loop systems can compensate for step loss by detecting position errors and issuing corrective pulses, ensuring accurate positioning.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E17"/>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48640"/>
          </a:xfrm>
          <a:prstGeom prst="rect">
            <a:avLst/>
          </a:prstGeom>
          <a:noFill/>
        </p:spPr>
        <p:txBody>
          <a:bodyPr wrap="square">
            <a:spAutoFit/>
          </a:bodyPr>
          <a:lstStyle/>
          <a:p>
            <a:pPr algn="l">
              <a:defRPr sz="2400" b="1">
                <a:solidFill>
                  <a:srgbClr val="00D4FF"/>
                </a:solidFill>
                <a:latin typeface="Segoe UI"/>
              </a:defRPr>
            </a:pPr>
            <a:r>
              <a:t>3. Step Loss Phenomenon</a:t>
            </a:r>
          </a:p>
        </p:txBody>
      </p:sp>
      <p:sp>
        <p:nvSpPr>
          <p:cNvPr id="4" name="TextBox 3"/>
          <p:cNvSpPr txBox="1"/>
          <p:nvPr/>
        </p:nvSpPr>
        <p:spPr>
          <a:xfrm>
            <a:off x="457200" y="502920"/>
            <a:ext cx="9144000" cy="320040"/>
          </a:xfrm>
          <a:prstGeom prst="rect">
            <a:avLst/>
          </a:prstGeom>
          <a:noFill/>
        </p:spPr>
        <p:txBody>
          <a:bodyPr wrap="square">
            <a:spAutoFit/>
          </a:bodyPr>
          <a:lstStyle/>
          <a:p>
            <a:pPr algn="l">
              <a:defRPr sz="1100" b="0">
                <a:solidFill>
                  <a:srgbClr val="5A6478"/>
                </a:solidFill>
                <a:latin typeface="Segoe UI"/>
              </a:defRPr>
            </a:pPr>
            <a:r>
              <a:t>What happens when load exceeds motor capability</a:t>
            </a:r>
          </a:p>
        </p:txBody>
      </p:sp>
      <p:sp>
        <p:nvSpPr>
          <p:cNvPr id="5" name="Rounded Rectangle 4"/>
          <p:cNvSpPr/>
          <p:nvPr/>
        </p:nvSpPr>
        <p:spPr>
          <a:xfrm>
            <a:off x="457200" y="1005840"/>
            <a:ext cx="5486400" cy="256032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97280"/>
            <a:ext cx="5120640" cy="320040"/>
          </a:xfrm>
          <a:prstGeom prst="rect">
            <a:avLst/>
          </a:prstGeom>
          <a:noFill/>
        </p:spPr>
        <p:txBody>
          <a:bodyPr wrap="square">
            <a:spAutoFit/>
          </a:bodyPr>
          <a:lstStyle/>
          <a:p>
            <a:pPr algn="l">
              <a:defRPr sz="1600" b="1">
                <a:solidFill>
                  <a:srgbClr val="00D4FF"/>
                </a:solidFill>
                <a:latin typeface="Segoe UI"/>
              </a:defRPr>
            </a:pPr>
            <a:r>
              <a:t>Definition</a:t>
            </a:r>
          </a:p>
        </p:txBody>
      </p:sp>
      <p:sp>
        <p:nvSpPr>
          <p:cNvPr id="7" name="TextBox 6"/>
          <p:cNvSpPr txBox="1"/>
          <p:nvPr/>
        </p:nvSpPr>
        <p:spPr>
          <a:xfrm>
            <a:off x="640080" y="1463040"/>
            <a:ext cx="5120640" cy="1920240"/>
          </a:xfrm>
          <a:prstGeom prst="rect">
            <a:avLst/>
          </a:prstGeom>
          <a:noFill/>
        </p:spPr>
        <p:txBody>
          <a:bodyPr wrap="square">
            <a:spAutoFit/>
          </a:bodyPr>
          <a:lstStyle/>
          <a:p>
            <a:pPr algn="l">
              <a:defRPr sz="1200" b="0">
                <a:solidFill>
                  <a:srgbClr val="8B95A8"/>
                </a:solidFill>
                <a:latin typeface="Segoe UI"/>
              </a:defRPr>
            </a:pPr>
            <a:r>
              <a:t>Step loss occurs when the motor's rotor fails to follow the commanded step sequence. The motor receives electrical pulses, but the rotor cannot mechanically advance due to insufficient torque to overcome the load.</a:t>
            </a:r>
            <a:br/>
            <a:br/>
            <a:r>
              <a:t>The controller is unaware of the loss (open-loop), resulting in a growing error between expected and actual position.</a:t>
            </a:r>
          </a:p>
        </p:txBody>
      </p:sp>
      <p:sp>
        <p:nvSpPr>
          <p:cNvPr id="8" name="Rounded Rectangle 7"/>
          <p:cNvSpPr/>
          <p:nvPr/>
        </p:nvSpPr>
        <p:spPr>
          <a:xfrm>
            <a:off x="457200" y="3749039"/>
            <a:ext cx="5486400" cy="274320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840480"/>
            <a:ext cx="5120640" cy="320040"/>
          </a:xfrm>
          <a:prstGeom prst="rect">
            <a:avLst/>
          </a:prstGeom>
          <a:noFill/>
        </p:spPr>
        <p:txBody>
          <a:bodyPr wrap="square">
            <a:spAutoFit/>
          </a:bodyPr>
          <a:lstStyle/>
          <a:p>
            <a:pPr algn="l">
              <a:defRPr sz="1600" b="1">
                <a:solidFill>
                  <a:srgbClr val="FF9800"/>
                </a:solidFill>
                <a:latin typeface="Segoe UI"/>
              </a:defRPr>
            </a:pPr>
            <a:r>
              <a:t>Step Loss Conditions</a:t>
            </a:r>
          </a:p>
        </p:txBody>
      </p:sp>
      <p:sp>
        <p:nvSpPr>
          <p:cNvPr id="10" name="TextBox 9"/>
          <p:cNvSpPr txBox="1"/>
          <p:nvPr/>
        </p:nvSpPr>
        <p:spPr>
          <a:xfrm>
            <a:off x="640080" y="4251960"/>
            <a:ext cx="5120640" cy="2011680"/>
          </a:xfrm>
          <a:prstGeom prst="rect">
            <a:avLst/>
          </a:prstGeom>
          <a:noFill/>
        </p:spPr>
        <p:txBody>
          <a:bodyPr wrap="square">
            <a:spAutoFit/>
          </a:bodyPr>
          <a:lstStyle/>
          <a:p>
            <a:pPr>
              <a:spcAft>
                <a:spcPts val="600"/>
              </a:spcAft>
            </a:pPr>
            <a:r>
              <a:rPr sz="1200" b="1">
                <a:solidFill>
                  <a:srgbClr val="FF9800"/>
                </a:solidFill>
                <a:latin typeface="Consolas"/>
              </a:rPr>
              <a:t>▶  </a:t>
            </a:r>
            <a:r>
              <a:rPr sz="1200">
                <a:solidFill>
                  <a:srgbClr val="E8ECF4"/>
                </a:solidFill>
                <a:latin typeface="Segoe UI"/>
              </a:rPr>
              <a:t>T_required &gt; T_available → STEP LOSS</a:t>
            </a:r>
          </a:p>
          <a:p>
            <a:pPr>
              <a:spcAft>
                <a:spcPts val="600"/>
              </a:spcAft>
            </a:pPr>
            <a:r>
              <a:rPr sz="1200" b="1">
                <a:solidFill>
                  <a:srgbClr val="FF4060"/>
                </a:solidFill>
                <a:latin typeface="Consolas"/>
              </a:rPr>
              <a:t>▶  </a:t>
            </a:r>
            <a:r>
              <a:rPr sz="1200">
                <a:solidFill>
                  <a:srgbClr val="E8ECF4"/>
                </a:solidFill>
                <a:latin typeface="Segoe UI"/>
              </a:rPr>
              <a:t>T_required &gt;&gt; T_available → MOTOR STALL</a:t>
            </a:r>
          </a:p>
          <a:p>
            <a:pPr>
              <a:spcAft>
                <a:spcPts val="600"/>
              </a:spcAft>
            </a:pPr>
            <a:r>
              <a:rPr sz="1200" b="1">
                <a:solidFill>
                  <a:srgbClr val="00E676"/>
                </a:solidFill>
                <a:latin typeface="Consolas"/>
              </a:rPr>
              <a:t>▶  </a:t>
            </a:r>
            <a:r>
              <a:rPr sz="1200">
                <a:solidFill>
                  <a:srgbClr val="E8ECF4"/>
                </a:solidFill>
                <a:latin typeface="Segoe UI"/>
              </a:rPr>
              <a:t>T_required ≤ T_available → NORMAL (no loss)</a:t>
            </a:r>
          </a:p>
          <a:p>
            <a:pPr>
              <a:spcAft>
                <a:spcPts val="600"/>
              </a:spcAft>
            </a:pPr>
            <a:r>
              <a:rPr sz="1200" b="1">
                <a:solidFill>
                  <a:srgbClr val="00D4FF"/>
                </a:solidFill>
                <a:latin typeface="Consolas"/>
              </a:rPr>
              <a:t>▶  </a:t>
            </a:r>
            <a:r>
              <a:rPr sz="1200">
                <a:solidFill>
                  <a:srgbClr val="E8ECF4"/>
                </a:solidFill>
                <a:latin typeface="Segoe UI"/>
              </a:rPr>
              <a:t>Higher RPM → lower available torque → more loss</a:t>
            </a:r>
          </a:p>
          <a:p>
            <a:pPr>
              <a:spcAft>
                <a:spcPts val="600"/>
              </a:spcAft>
            </a:pPr>
            <a:r>
              <a:rPr sz="1200" b="1">
                <a:solidFill>
                  <a:srgbClr val="00D4FF"/>
                </a:solidFill>
                <a:latin typeface="Consolas"/>
              </a:rPr>
              <a:t>▶  </a:t>
            </a:r>
            <a:r>
              <a:rPr sz="1200">
                <a:solidFill>
                  <a:srgbClr val="E8ECF4"/>
                </a:solidFill>
                <a:latin typeface="Segoe UI"/>
              </a:rPr>
              <a:t>Heavier load → higher required torque → more loss</a:t>
            </a:r>
          </a:p>
        </p:txBody>
      </p:sp>
      <p:sp>
        <p:nvSpPr>
          <p:cNvPr id="11" name="Rounded Rectangle 10"/>
          <p:cNvSpPr/>
          <p:nvPr/>
        </p:nvSpPr>
        <p:spPr>
          <a:xfrm>
            <a:off x="6400800" y="1005840"/>
            <a:ext cx="5303520" cy="2743200"/>
          </a:xfrm>
          <a:prstGeom prst="roundRect">
            <a:avLst/>
          </a:prstGeom>
          <a:solidFill>
            <a:srgbClr val="1A2336"/>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097280"/>
            <a:ext cx="4937760" cy="320040"/>
          </a:xfrm>
          <a:prstGeom prst="rect">
            <a:avLst/>
          </a:prstGeom>
          <a:noFill/>
        </p:spPr>
        <p:txBody>
          <a:bodyPr wrap="square">
            <a:spAutoFit/>
          </a:bodyPr>
          <a:lstStyle/>
          <a:p>
            <a:pPr algn="l">
              <a:defRPr sz="1600" b="1">
                <a:solidFill>
                  <a:srgbClr val="FF4060"/>
                </a:solidFill>
                <a:latin typeface="Segoe UI"/>
              </a:defRPr>
            </a:pPr>
            <a:r>
              <a:t>Consequences of Step Loss</a:t>
            </a:r>
          </a:p>
        </p:txBody>
      </p:sp>
      <p:sp>
        <p:nvSpPr>
          <p:cNvPr id="13" name="TextBox 12"/>
          <p:cNvSpPr txBox="1"/>
          <p:nvPr/>
        </p:nvSpPr>
        <p:spPr>
          <a:xfrm>
            <a:off x="6583680" y="1508760"/>
            <a:ext cx="4937760" cy="1828800"/>
          </a:xfrm>
          <a:prstGeom prst="rect">
            <a:avLst/>
          </a:prstGeom>
          <a:noFill/>
        </p:spPr>
        <p:txBody>
          <a:bodyPr wrap="square">
            <a:spAutoFit/>
          </a:bodyPr>
          <a:lstStyle/>
          <a:p>
            <a:pPr>
              <a:spcAft>
                <a:spcPts val="600"/>
              </a:spcAft>
            </a:pPr>
            <a:r>
              <a:rPr sz="1200" b="1">
                <a:solidFill>
                  <a:srgbClr val="FF4060"/>
                </a:solidFill>
                <a:latin typeface="Consolas"/>
              </a:rPr>
              <a:t>✗  </a:t>
            </a:r>
            <a:r>
              <a:rPr sz="1200">
                <a:solidFill>
                  <a:srgbClr val="E8ECF4"/>
                </a:solidFill>
                <a:latin typeface="Segoe UI"/>
              </a:rPr>
              <a:t>Positioning error accumulates</a:t>
            </a:r>
          </a:p>
          <a:p>
            <a:pPr>
              <a:spcAft>
                <a:spcPts val="600"/>
              </a:spcAft>
            </a:pPr>
            <a:r>
              <a:rPr sz="1200" b="1">
                <a:solidFill>
                  <a:srgbClr val="FF4060"/>
                </a:solidFill>
                <a:latin typeface="Consolas"/>
              </a:rPr>
              <a:t>✗  </a:t>
            </a:r>
            <a:r>
              <a:rPr sz="1200">
                <a:solidFill>
                  <a:srgbClr val="E8ECF4"/>
                </a:solidFill>
                <a:latin typeface="Segoe UI"/>
              </a:rPr>
              <a:t>No self-correction mechanism</a:t>
            </a:r>
          </a:p>
          <a:p>
            <a:pPr>
              <a:spcAft>
                <a:spcPts val="600"/>
              </a:spcAft>
            </a:pPr>
            <a:r>
              <a:rPr sz="1200" b="1">
                <a:solidFill>
                  <a:srgbClr val="FF4060"/>
                </a:solidFill>
                <a:latin typeface="Consolas"/>
              </a:rPr>
              <a:t>✗  </a:t>
            </a:r>
            <a:r>
              <a:rPr sz="1200">
                <a:solidFill>
                  <a:srgbClr val="E8ECF4"/>
                </a:solidFill>
                <a:latin typeface="Segoe UI"/>
              </a:rPr>
              <a:t>Workpiece damage in CNC</a:t>
            </a:r>
          </a:p>
          <a:p>
            <a:pPr>
              <a:spcAft>
                <a:spcPts val="600"/>
              </a:spcAft>
            </a:pPr>
            <a:r>
              <a:rPr sz="1200" b="1">
                <a:solidFill>
                  <a:srgbClr val="FF4060"/>
                </a:solidFill>
                <a:latin typeface="Consolas"/>
              </a:rPr>
              <a:t>✗  </a:t>
            </a:r>
            <a:r>
              <a:rPr sz="1200">
                <a:solidFill>
                  <a:srgbClr val="E8ECF4"/>
                </a:solidFill>
                <a:latin typeface="Segoe UI"/>
              </a:rPr>
              <a:t>Print failure in 3D printing</a:t>
            </a:r>
          </a:p>
          <a:p>
            <a:pPr>
              <a:spcAft>
                <a:spcPts val="600"/>
              </a:spcAft>
            </a:pPr>
            <a:r>
              <a:rPr sz="1200" b="1">
                <a:solidFill>
                  <a:srgbClr val="FF4060"/>
                </a:solidFill>
                <a:latin typeface="Consolas"/>
              </a:rPr>
              <a:t>✗  </a:t>
            </a:r>
            <a:r>
              <a:rPr sz="1200">
                <a:solidFill>
                  <a:srgbClr val="E8ECF4"/>
                </a:solidFill>
                <a:latin typeface="Segoe UI"/>
              </a:rPr>
              <a:t>Complete stall if severe</a:t>
            </a:r>
          </a:p>
        </p:txBody>
      </p:sp>
      <p:sp>
        <p:nvSpPr>
          <p:cNvPr id="14" name="Rounded Rectangle 13"/>
          <p:cNvSpPr/>
          <p:nvPr/>
        </p:nvSpPr>
        <p:spPr>
          <a:xfrm>
            <a:off x="6400800" y="3931920"/>
            <a:ext cx="5303520" cy="2560320"/>
          </a:xfrm>
          <a:prstGeom prst="roundRect">
            <a:avLst/>
          </a:prstGeom>
          <a:solidFill>
            <a:srgbClr val="1A2336"/>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4023360"/>
            <a:ext cx="4937760" cy="320040"/>
          </a:xfrm>
          <a:prstGeom prst="rect">
            <a:avLst/>
          </a:prstGeom>
          <a:noFill/>
        </p:spPr>
        <p:txBody>
          <a:bodyPr wrap="square">
            <a:spAutoFit/>
          </a:bodyPr>
          <a:lstStyle/>
          <a:p>
            <a:pPr algn="l">
              <a:defRPr sz="1600" b="1">
                <a:solidFill>
                  <a:srgbClr val="7B2FF7"/>
                </a:solidFill>
                <a:latin typeface="Segoe UI"/>
              </a:defRPr>
            </a:pPr>
            <a:r>
              <a:t>Step Loss vs Motor Stall</a:t>
            </a:r>
          </a:p>
        </p:txBody>
      </p:sp>
      <p:sp>
        <p:nvSpPr>
          <p:cNvPr id="16" name="TextBox 15"/>
          <p:cNvSpPr txBox="1"/>
          <p:nvPr/>
        </p:nvSpPr>
        <p:spPr>
          <a:xfrm>
            <a:off x="6583680" y="4434840"/>
            <a:ext cx="4937760" cy="1920240"/>
          </a:xfrm>
          <a:prstGeom prst="rect">
            <a:avLst/>
          </a:prstGeom>
          <a:noFill/>
        </p:spPr>
        <p:txBody>
          <a:bodyPr wrap="square">
            <a:spAutoFit/>
          </a:bodyPr>
          <a:lstStyle/>
          <a:p>
            <a:pPr algn="l">
              <a:defRPr sz="1100" b="0">
                <a:solidFill>
                  <a:srgbClr val="8B95A8"/>
                </a:solidFill>
                <a:latin typeface="Consolas"/>
              </a:defRPr>
            </a:pPr>
            <a:r>
              <a:t>Step Loss (Partial):</a:t>
            </a:r>
            <a:br/>
            <a:r>
              <a:t>   Motor still rotates but misses some steps.</a:t>
            </a:r>
            <a:br/>
            <a:r>
              <a:t>   actual_steps = commanded × (T_avail / T_req)</a:t>
            </a:r>
            <a:br/>
            <a:br/>
            <a:r>
              <a:t>Motor Stall (Complete):</a:t>
            </a:r>
            <a:br/>
            <a:r>
              <a:t>   Motor completely stops rotating.</a:t>
            </a:r>
            <a:br/>
            <a:r>
              <a:t>   Occurs when T_req &gt;&gt; T_avail (ratio &lt; 10%)</a:t>
            </a:r>
            <a:br/>
            <a:r>
              <a:t>   Motor vibrates but cannot advance.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E17"/>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48640"/>
          </a:xfrm>
          <a:prstGeom prst="rect">
            <a:avLst/>
          </a:prstGeom>
          <a:noFill/>
        </p:spPr>
        <p:txBody>
          <a:bodyPr wrap="square">
            <a:spAutoFit/>
          </a:bodyPr>
          <a:lstStyle/>
          <a:p>
            <a:pPr algn="l">
              <a:defRPr sz="2400" b="1">
                <a:solidFill>
                  <a:srgbClr val="00D4FF"/>
                </a:solidFill>
                <a:latin typeface="Segoe UI"/>
              </a:defRPr>
            </a:pPr>
            <a:r>
              <a:t>4. Pulley-Weight Load Mechanism</a:t>
            </a:r>
          </a:p>
        </p:txBody>
      </p:sp>
      <p:sp>
        <p:nvSpPr>
          <p:cNvPr id="4" name="TextBox 3"/>
          <p:cNvSpPr txBox="1"/>
          <p:nvPr/>
        </p:nvSpPr>
        <p:spPr>
          <a:xfrm>
            <a:off x="457200" y="502920"/>
            <a:ext cx="9144000" cy="320040"/>
          </a:xfrm>
          <a:prstGeom prst="rect">
            <a:avLst/>
          </a:prstGeom>
          <a:noFill/>
        </p:spPr>
        <p:txBody>
          <a:bodyPr wrap="square">
            <a:spAutoFit/>
          </a:bodyPr>
          <a:lstStyle/>
          <a:p>
            <a:pPr algn="l">
              <a:defRPr sz="1100" b="0">
                <a:solidFill>
                  <a:srgbClr val="5A6478"/>
                </a:solidFill>
                <a:latin typeface="Segoe UI"/>
              </a:defRPr>
            </a:pPr>
            <a:r>
              <a:t>Converting rotary motion to linear displacement with load</a:t>
            </a:r>
          </a:p>
        </p:txBody>
      </p:sp>
      <p:sp>
        <p:nvSpPr>
          <p:cNvPr id="5" name="Rounded Rectangle 4"/>
          <p:cNvSpPr/>
          <p:nvPr/>
        </p:nvSpPr>
        <p:spPr>
          <a:xfrm>
            <a:off x="457200" y="1005840"/>
            <a:ext cx="5303520" cy="548640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97280"/>
            <a:ext cx="4937760" cy="320040"/>
          </a:xfrm>
          <a:prstGeom prst="rect">
            <a:avLst/>
          </a:prstGeom>
          <a:noFill/>
        </p:spPr>
        <p:txBody>
          <a:bodyPr wrap="square">
            <a:spAutoFit/>
          </a:bodyPr>
          <a:lstStyle/>
          <a:p>
            <a:pPr algn="l">
              <a:defRPr sz="1600" b="1">
                <a:solidFill>
                  <a:srgbClr val="00D4FF"/>
                </a:solidFill>
                <a:latin typeface="Segoe UI"/>
              </a:defRPr>
            </a:pPr>
            <a:r>
              <a:t>Mechanism Components</a:t>
            </a:r>
          </a:p>
        </p:txBody>
      </p:sp>
      <p:sp>
        <p:nvSpPr>
          <p:cNvPr id="7" name="TextBox 6"/>
          <p:cNvSpPr txBox="1"/>
          <p:nvPr/>
        </p:nvSpPr>
        <p:spPr>
          <a:xfrm>
            <a:off x="640080" y="1508760"/>
            <a:ext cx="4937760" cy="2743200"/>
          </a:xfrm>
          <a:prstGeom prst="rect">
            <a:avLst/>
          </a:prstGeom>
          <a:noFill/>
        </p:spPr>
        <p:txBody>
          <a:bodyPr wrap="square">
            <a:spAutoFit/>
          </a:bodyPr>
          <a:lstStyle/>
          <a:p>
            <a:pPr>
              <a:spcAft>
                <a:spcPts val="600"/>
              </a:spcAft>
            </a:pPr>
            <a:r>
              <a:rPr sz="1200" b="1">
                <a:solidFill>
                  <a:srgbClr val="E8ECF4"/>
                </a:solidFill>
                <a:latin typeface="Consolas"/>
              </a:rPr>
              <a:t>1.  </a:t>
            </a:r>
            <a:r>
              <a:rPr sz="1200">
                <a:solidFill>
                  <a:srgbClr val="E8ECF4"/>
                </a:solidFill>
                <a:latin typeface="Segoe UI"/>
              </a:rPr>
              <a:t>Stepper Motor — generates step-wise rotation</a:t>
            </a:r>
          </a:p>
          <a:p>
            <a:pPr>
              <a:spcAft>
                <a:spcPts val="600"/>
              </a:spcAft>
            </a:pPr>
            <a:r>
              <a:rPr sz="1200" b="1">
                <a:solidFill>
                  <a:srgbClr val="E8ECF4"/>
                </a:solidFill>
                <a:latin typeface="Consolas"/>
              </a:rPr>
              <a:t>2.  </a:t>
            </a:r>
            <a:r>
              <a:rPr sz="1200">
                <a:solidFill>
                  <a:srgbClr val="E8ECF4"/>
                </a:solidFill>
                <a:latin typeface="Segoe UI"/>
              </a:rPr>
              <a:t>Shaft — transmits rotation to pulley</a:t>
            </a:r>
          </a:p>
          <a:p>
            <a:pPr>
              <a:spcAft>
                <a:spcPts val="600"/>
              </a:spcAft>
            </a:pPr>
            <a:r>
              <a:rPr sz="1200" b="1">
                <a:solidFill>
                  <a:srgbClr val="E8ECF4"/>
                </a:solidFill>
                <a:latin typeface="Consolas"/>
              </a:rPr>
              <a:t>3.  </a:t>
            </a:r>
            <a:r>
              <a:rPr sz="1200">
                <a:solidFill>
                  <a:srgbClr val="E8ECF4"/>
                </a:solidFill>
                <a:latin typeface="Segoe UI"/>
              </a:rPr>
              <a:t>Pulley (r = 20mm) — converts rotation to linear motion</a:t>
            </a:r>
          </a:p>
          <a:p>
            <a:pPr>
              <a:spcAft>
                <a:spcPts val="600"/>
              </a:spcAft>
            </a:pPr>
            <a:r>
              <a:rPr sz="1200" b="1">
                <a:solidFill>
                  <a:srgbClr val="E8ECF4"/>
                </a:solidFill>
                <a:latin typeface="Consolas"/>
              </a:rPr>
              <a:t>4.  </a:t>
            </a:r>
            <a:r>
              <a:rPr sz="1200">
                <a:solidFill>
                  <a:srgbClr val="E8ECF4"/>
                </a:solidFill>
                <a:latin typeface="Segoe UI"/>
              </a:rPr>
              <a:t>String — wraps around pulley, connects to weight</a:t>
            </a:r>
          </a:p>
          <a:p>
            <a:pPr>
              <a:spcAft>
                <a:spcPts val="600"/>
              </a:spcAft>
            </a:pPr>
            <a:r>
              <a:rPr sz="1200" b="1">
                <a:solidFill>
                  <a:srgbClr val="E8ECF4"/>
                </a:solidFill>
                <a:latin typeface="Consolas"/>
              </a:rPr>
              <a:t>5.  </a:t>
            </a:r>
            <a:r>
              <a:rPr sz="1200">
                <a:solidFill>
                  <a:srgbClr val="E8ECF4"/>
                </a:solidFill>
                <a:latin typeface="Segoe UI"/>
              </a:rPr>
              <a:t>Hanging Weight (0–15 kg) — creates resistive load</a:t>
            </a:r>
          </a:p>
          <a:p>
            <a:pPr>
              <a:spcAft>
                <a:spcPts val="600"/>
              </a:spcAft>
            </a:pPr>
            <a:r>
              <a:rPr sz="1200" b="1">
                <a:solidFill>
                  <a:srgbClr val="E8ECF4"/>
                </a:solidFill>
                <a:latin typeface="Consolas"/>
              </a:rPr>
              <a:t>6.  </a:t>
            </a:r>
            <a:r>
              <a:rPr sz="1200">
                <a:solidFill>
                  <a:srgbClr val="E8ECF4"/>
                </a:solidFill>
                <a:latin typeface="Segoe UI"/>
              </a:rPr>
              <a:t>Linear Scale — measures displacement</a:t>
            </a:r>
          </a:p>
          <a:p>
            <a:pPr>
              <a:spcAft>
                <a:spcPts val="600"/>
              </a:spcAft>
            </a:pPr>
            <a:r>
              <a:rPr sz="1200" b="1">
                <a:solidFill>
                  <a:srgbClr val="E8ECF4"/>
                </a:solidFill>
                <a:latin typeface="Consolas"/>
              </a:rPr>
              <a:t>7.  </a:t>
            </a:r>
            <a:r>
              <a:rPr sz="1200">
                <a:solidFill>
                  <a:srgbClr val="E8ECF4"/>
                </a:solidFill>
                <a:latin typeface="Segoe UI"/>
              </a:rPr>
              <a:t>Pointer — indicates position on scale</a:t>
            </a:r>
          </a:p>
        </p:txBody>
      </p:sp>
      <p:sp>
        <p:nvSpPr>
          <p:cNvPr id="8" name="TextBox 7"/>
          <p:cNvSpPr txBox="1"/>
          <p:nvPr/>
        </p:nvSpPr>
        <p:spPr>
          <a:xfrm>
            <a:off x="640080" y="4114800"/>
            <a:ext cx="4937760" cy="320040"/>
          </a:xfrm>
          <a:prstGeom prst="rect">
            <a:avLst/>
          </a:prstGeom>
          <a:noFill/>
        </p:spPr>
        <p:txBody>
          <a:bodyPr wrap="square">
            <a:spAutoFit/>
          </a:bodyPr>
          <a:lstStyle/>
          <a:p>
            <a:pPr algn="l">
              <a:defRPr sz="1400" b="1">
                <a:solidFill>
                  <a:srgbClr val="FF9800"/>
                </a:solidFill>
                <a:latin typeface="Segoe UI"/>
              </a:defRPr>
            </a:pPr>
            <a:r>
              <a:t>Direction Convention</a:t>
            </a:r>
          </a:p>
        </p:txBody>
      </p:sp>
      <p:sp>
        <p:nvSpPr>
          <p:cNvPr id="9" name="TextBox 8"/>
          <p:cNvSpPr txBox="1"/>
          <p:nvPr/>
        </p:nvSpPr>
        <p:spPr>
          <a:xfrm>
            <a:off x="640080" y="4526280"/>
            <a:ext cx="4937760" cy="1828800"/>
          </a:xfrm>
          <a:prstGeom prst="rect">
            <a:avLst/>
          </a:prstGeom>
          <a:noFill/>
        </p:spPr>
        <p:txBody>
          <a:bodyPr wrap="square">
            <a:spAutoFit/>
          </a:bodyPr>
          <a:lstStyle/>
          <a:p>
            <a:pPr>
              <a:spcAft>
                <a:spcPts val="600"/>
              </a:spcAft>
            </a:pPr>
            <a:r>
              <a:rPr sz="1200" b="1">
                <a:solidFill>
                  <a:srgbClr val="00E676"/>
                </a:solidFill>
                <a:latin typeface="Consolas"/>
              </a:rPr>
              <a:t>▲  </a:t>
            </a:r>
            <a:r>
              <a:rPr sz="1200">
                <a:solidFill>
                  <a:srgbClr val="E8ECF4"/>
                </a:solidFill>
                <a:latin typeface="Segoe UI"/>
              </a:rPr>
              <a:t>LIFT (Forward): Motor rotates Counter-Clockwise (CCW)</a:t>
            </a:r>
          </a:p>
          <a:p>
            <a:pPr>
              <a:spcAft>
                <a:spcPts val="600"/>
              </a:spcAft>
            </a:pPr>
            <a:r>
              <a:rPr sz="1200" b="1">
                <a:solidFill>
                  <a:srgbClr val="8B95A8"/>
                </a:solidFill>
                <a:latin typeface="Consolas"/>
              </a:rPr>
              <a:t>  </a:t>
            </a:r>
            <a:r>
              <a:rPr sz="1200">
                <a:solidFill>
                  <a:srgbClr val="E8ECF4"/>
                </a:solidFill>
                <a:latin typeface="Segoe UI"/>
              </a:rPr>
              <a:t>   Weight moves UP, pointer moves right</a:t>
            </a:r>
          </a:p>
          <a:p>
            <a:pPr>
              <a:spcAft>
                <a:spcPts val="600"/>
              </a:spcAft>
            </a:pPr>
            <a:r>
              <a:rPr sz="1200" b="1">
                <a:solidFill>
                  <a:srgbClr val="FF4060"/>
                </a:solidFill>
                <a:latin typeface="Consolas"/>
              </a:rPr>
              <a:t>▼  </a:t>
            </a:r>
            <a:r>
              <a:rPr sz="1200">
                <a:solidFill>
                  <a:srgbClr val="E8ECF4"/>
                </a:solidFill>
                <a:latin typeface="Segoe UI"/>
              </a:rPr>
              <a:t>LOWER (Reverse): Motor rotates Clockwise (CW)</a:t>
            </a:r>
          </a:p>
          <a:p>
            <a:pPr>
              <a:spcAft>
                <a:spcPts val="600"/>
              </a:spcAft>
            </a:pPr>
            <a:r>
              <a:rPr sz="1200" b="1">
                <a:solidFill>
                  <a:srgbClr val="8B95A8"/>
                </a:solidFill>
                <a:latin typeface="Consolas"/>
              </a:rPr>
              <a:t>  </a:t>
            </a:r>
            <a:r>
              <a:rPr sz="1200">
                <a:solidFill>
                  <a:srgbClr val="E8ECF4"/>
                </a:solidFill>
                <a:latin typeface="Segoe UI"/>
              </a:rPr>
              <a:t>   Weight moves DOWN, pointer moves left</a:t>
            </a:r>
          </a:p>
        </p:txBody>
      </p:sp>
      <p:sp>
        <p:nvSpPr>
          <p:cNvPr id="10" name="Rounded Rectangle 9"/>
          <p:cNvSpPr/>
          <p:nvPr/>
        </p:nvSpPr>
        <p:spPr>
          <a:xfrm>
            <a:off x="6217920" y="1005840"/>
            <a:ext cx="5486400" cy="2743200"/>
          </a:xfrm>
          <a:prstGeom prst="roundRect">
            <a:avLst/>
          </a:prstGeom>
          <a:solidFill>
            <a:srgbClr val="1A2336"/>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097280"/>
            <a:ext cx="5120640" cy="320040"/>
          </a:xfrm>
          <a:prstGeom prst="rect">
            <a:avLst/>
          </a:prstGeom>
          <a:noFill/>
        </p:spPr>
        <p:txBody>
          <a:bodyPr wrap="square">
            <a:spAutoFit/>
          </a:bodyPr>
          <a:lstStyle/>
          <a:p>
            <a:pPr algn="l">
              <a:defRPr sz="1600" b="1">
                <a:solidFill>
                  <a:srgbClr val="FF9800"/>
                </a:solidFill>
                <a:latin typeface="Segoe UI"/>
              </a:defRPr>
            </a:pPr>
            <a:r>
              <a:t>How Load is Applied</a:t>
            </a:r>
          </a:p>
        </p:txBody>
      </p:sp>
      <p:sp>
        <p:nvSpPr>
          <p:cNvPr id="12" name="TextBox 11"/>
          <p:cNvSpPr txBox="1"/>
          <p:nvPr/>
        </p:nvSpPr>
        <p:spPr>
          <a:xfrm>
            <a:off x="6400800" y="1463040"/>
            <a:ext cx="5120640" cy="2103120"/>
          </a:xfrm>
          <a:prstGeom prst="rect">
            <a:avLst/>
          </a:prstGeom>
          <a:noFill/>
        </p:spPr>
        <p:txBody>
          <a:bodyPr wrap="square">
            <a:spAutoFit/>
          </a:bodyPr>
          <a:lstStyle/>
          <a:p>
            <a:pPr algn="l">
              <a:defRPr sz="1200" b="0">
                <a:solidFill>
                  <a:srgbClr val="8B95A8"/>
                </a:solidFill>
                <a:latin typeface="Consolas"/>
              </a:defRPr>
            </a:pPr>
            <a:r>
              <a:t>The hanging weight creates a gravitational force:</a:t>
            </a:r>
            <a:br/>
            <a:r>
              <a:t>    F = m × g</a:t>
            </a:r>
            <a:br/>
            <a:br/>
            <a:r>
              <a:t>This force acts through the pulley radius to create torque:</a:t>
            </a:r>
            <a:br/>
            <a:r>
              <a:t>    T_required = F × r = m × g × r</a:t>
            </a:r>
            <a:br/>
            <a:br/>
            <a:r>
              <a:t>When lifting, the motor must overcome this gravitational torque.</a:t>
            </a:r>
            <a:br/>
            <a:r>
              <a:t>If T_required &gt; T_available, step loss occurs.</a:t>
            </a:r>
            <a:br/>
            <a:br/>
            <a:r>
              <a:t>Example: 5 kg weight with 20mm pulley</a:t>
            </a:r>
            <a:br/>
            <a:r>
              <a:t>    T_req = 5 × 9.81 × 0.02 = 0.981 Nm</a:t>
            </a:r>
          </a:p>
        </p:txBody>
      </p:sp>
      <p:sp>
        <p:nvSpPr>
          <p:cNvPr id="13" name="Rounded Rectangle 12"/>
          <p:cNvSpPr/>
          <p:nvPr/>
        </p:nvSpPr>
        <p:spPr>
          <a:xfrm>
            <a:off x="6217920" y="3931920"/>
            <a:ext cx="5486400" cy="2560320"/>
          </a:xfrm>
          <a:prstGeom prst="roundRect">
            <a:avLst/>
          </a:prstGeom>
          <a:solidFill>
            <a:srgbClr val="1A2336"/>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4023360"/>
            <a:ext cx="5120640" cy="320040"/>
          </a:xfrm>
          <a:prstGeom prst="rect">
            <a:avLst/>
          </a:prstGeom>
          <a:noFill/>
        </p:spPr>
        <p:txBody>
          <a:bodyPr wrap="square">
            <a:spAutoFit/>
          </a:bodyPr>
          <a:lstStyle/>
          <a:p>
            <a:pPr algn="l">
              <a:defRPr sz="1600" b="1">
                <a:solidFill>
                  <a:srgbClr val="FF4060"/>
                </a:solidFill>
                <a:latin typeface="Segoe UI"/>
              </a:defRPr>
            </a:pPr>
            <a:r>
              <a:t>Critical Load Threshold</a:t>
            </a:r>
          </a:p>
        </p:txBody>
      </p:sp>
      <p:sp>
        <p:nvSpPr>
          <p:cNvPr id="15" name="TextBox 14"/>
          <p:cNvSpPr txBox="1"/>
          <p:nvPr/>
        </p:nvSpPr>
        <p:spPr>
          <a:xfrm>
            <a:off x="6400800" y="4434840"/>
            <a:ext cx="5120640" cy="1920240"/>
          </a:xfrm>
          <a:prstGeom prst="rect">
            <a:avLst/>
          </a:prstGeom>
          <a:noFill/>
        </p:spPr>
        <p:txBody>
          <a:bodyPr wrap="square">
            <a:spAutoFit/>
          </a:bodyPr>
          <a:lstStyle/>
          <a:p>
            <a:pPr algn="l">
              <a:defRPr sz="1200" b="0">
                <a:solidFill>
                  <a:srgbClr val="8B95A8"/>
                </a:solidFill>
                <a:latin typeface="Consolas"/>
              </a:defRPr>
            </a:pPr>
            <a:r>
              <a:t>The maximum load before step loss:</a:t>
            </a:r>
            <a:br/>
            <a:br/>
            <a:r>
              <a:t>    m_max = T_available / (g × r)</a:t>
            </a:r>
            <a:br/>
            <a:r>
              <a:t>    m_max = 1.0 / (9.81 × 0.02)</a:t>
            </a:r>
            <a:br/>
            <a:r>
              <a:t>    m_max ≈ 5.1 kg</a:t>
            </a:r>
            <a:br/>
            <a:br/>
            <a:r>
              <a:t>▶ Below 5.1 kg:  No step loss (green zone)</a:t>
            </a:r>
            <a:br/>
            <a:r>
              <a:t>▶ Above 5.1 kg:  Step loss begins (orange zone)</a:t>
            </a:r>
            <a:br/>
            <a:r>
              <a:t>▶ Above ~50 kg:  Motor stall (red zone)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E17"/>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48640"/>
          </a:xfrm>
          <a:prstGeom prst="rect">
            <a:avLst/>
          </a:prstGeom>
          <a:noFill/>
        </p:spPr>
        <p:txBody>
          <a:bodyPr wrap="square">
            <a:spAutoFit/>
          </a:bodyPr>
          <a:lstStyle/>
          <a:p>
            <a:pPr algn="l">
              <a:defRPr sz="2400" b="1">
                <a:solidFill>
                  <a:srgbClr val="00D4FF"/>
                </a:solidFill>
                <a:latin typeface="Segoe UI"/>
              </a:defRPr>
            </a:pPr>
            <a:r>
              <a:t>5. Physics &amp; Mathematical Model</a:t>
            </a:r>
          </a:p>
        </p:txBody>
      </p:sp>
      <p:sp>
        <p:nvSpPr>
          <p:cNvPr id="4" name="TextBox 3"/>
          <p:cNvSpPr txBox="1"/>
          <p:nvPr/>
        </p:nvSpPr>
        <p:spPr>
          <a:xfrm>
            <a:off x="457200" y="502920"/>
            <a:ext cx="9144000" cy="320040"/>
          </a:xfrm>
          <a:prstGeom prst="rect">
            <a:avLst/>
          </a:prstGeom>
          <a:noFill/>
        </p:spPr>
        <p:txBody>
          <a:bodyPr wrap="square">
            <a:spAutoFit/>
          </a:bodyPr>
          <a:lstStyle/>
          <a:p>
            <a:pPr algn="l">
              <a:defRPr sz="1100" b="0">
                <a:solidFill>
                  <a:srgbClr val="5A6478"/>
                </a:solidFill>
                <a:latin typeface="Segoe UI"/>
              </a:defRPr>
            </a:pPr>
            <a:r>
              <a:t>Core equations governing the simulation</a:t>
            </a:r>
          </a:p>
        </p:txBody>
      </p:sp>
      <p:sp>
        <p:nvSpPr>
          <p:cNvPr id="5" name="Rounded Rectangle 4"/>
          <p:cNvSpPr/>
          <p:nvPr/>
        </p:nvSpPr>
        <p:spPr>
          <a:xfrm>
            <a:off x="457200" y="1005840"/>
            <a:ext cx="5486400" cy="146304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51560"/>
            <a:ext cx="5120640" cy="274320"/>
          </a:xfrm>
          <a:prstGeom prst="rect">
            <a:avLst/>
          </a:prstGeom>
          <a:noFill/>
        </p:spPr>
        <p:txBody>
          <a:bodyPr wrap="square">
            <a:spAutoFit/>
          </a:bodyPr>
          <a:lstStyle/>
          <a:p>
            <a:pPr algn="l">
              <a:defRPr sz="1400" b="1">
                <a:solidFill>
                  <a:srgbClr val="00D4FF"/>
                </a:solidFill>
                <a:latin typeface="Segoe UI"/>
              </a:defRPr>
            </a:pPr>
            <a:r>
              <a:t>① Linear Displacement</a:t>
            </a:r>
          </a:p>
        </p:txBody>
      </p:sp>
      <p:sp>
        <p:nvSpPr>
          <p:cNvPr id="7" name="TextBox 6"/>
          <p:cNvSpPr txBox="1"/>
          <p:nvPr/>
        </p:nvSpPr>
        <p:spPr>
          <a:xfrm>
            <a:off x="640080" y="1371600"/>
            <a:ext cx="5120640" cy="457200"/>
          </a:xfrm>
          <a:prstGeom prst="rect">
            <a:avLst/>
          </a:prstGeom>
          <a:noFill/>
        </p:spPr>
        <p:txBody>
          <a:bodyPr wrap="square">
            <a:spAutoFit/>
          </a:bodyPr>
          <a:lstStyle/>
          <a:p>
            <a:pPr algn="l">
              <a:defRPr sz="1600" b="1">
                <a:solidFill>
                  <a:srgbClr val="E8ECF4"/>
                </a:solidFill>
                <a:latin typeface="Consolas"/>
              </a:defRPr>
            </a:pPr>
            <a:r>
              <a:t>D = (steps / PPR) × 2πr</a:t>
            </a:r>
          </a:p>
        </p:txBody>
      </p:sp>
      <p:sp>
        <p:nvSpPr>
          <p:cNvPr id="8" name="TextBox 7"/>
          <p:cNvSpPr txBox="1"/>
          <p:nvPr/>
        </p:nvSpPr>
        <p:spPr>
          <a:xfrm>
            <a:off x="640080" y="1783080"/>
            <a:ext cx="5120640" cy="548640"/>
          </a:xfrm>
          <a:prstGeom prst="rect">
            <a:avLst/>
          </a:prstGeom>
          <a:noFill/>
        </p:spPr>
        <p:txBody>
          <a:bodyPr wrap="square">
            <a:spAutoFit/>
          </a:bodyPr>
          <a:lstStyle/>
          <a:p>
            <a:pPr algn="l">
              <a:defRPr sz="1100" b="0">
                <a:solidFill>
                  <a:srgbClr val="5A6478"/>
                </a:solidFill>
                <a:latin typeface="Segoe UI"/>
              </a:defRPr>
            </a:pPr>
            <a:r>
              <a:t>Where: steps = commanded pulses, PPR = 200, r = 0.02 m</a:t>
            </a:r>
          </a:p>
        </p:txBody>
      </p:sp>
      <p:sp>
        <p:nvSpPr>
          <p:cNvPr id="9" name="Rounded Rectangle 8"/>
          <p:cNvSpPr/>
          <p:nvPr/>
        </p:nvSpPr>
        <p:spPr>
          <a:xfrm>
            <a:off x="457200" y="2651760"/>
            <a:ext cx="5486400" cy="146304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697480"/>
            <a:ext cx="5120640" cy="274320"/>
          </a:xfrm>
          <a:prstGeom prst="rect">
            <a:avLst/>
          </a:prstGeom>
          <a:noFill/>
        </p:spPr>
        <p:txBody>
          <a:bodyPr wrap="square">
            <a:spAutoFit/>
          </a:bodyPr>
          <a:lstStyle/>
          <a:p>
            <a:pPr algn="l">
              <a:defRPr sz="1400" b="1">
                <a:solidFill>
                  <a:srgbClr val="FF9800"/>
                </a:solidFill>
                <a:latin typeface="Segoe UI"/>
              </a:defRPr>
            </a:pPr>
            <a:r>
              <a:t>② Torque Required</a:t>
            </a:r>
          </a:p>
        </p:txBody>
      </p:sp>
      <p:sp>
        <p:nvSpPr>
          <p:cNvPr id="11" name="TextBox 10"/>
          <p:cNvSpPr txBox="1"/>
          <p:nvPr/>
        </p:nvSpPr>
        <p:spPr>
          <a:xfrm>
            <a:off x="640080" y="3017520"/>
            <a:ext cx="5120640" cy="457200"/>
          </a:xfrm>
          <a:prstGeom prst="rect">
            <a:avLst/>
          </a:prstGeom>
          <a:noFill/>
        </p:spPr>
        <p:txBody>
          <a:bodyPr wrap="square">
            <a:spAutoFit/>
          </a:bodyPr>
          <a:lstStyle/>
          <a:p>
            <a:pPr algn="l">
              <a:defRPr sz="1600" b="1">
                <a:solidFill>
                  <a:srgbClr val="E8ECF4"/>
                </a:solidFill>
                <a:latin typeface="Consolas"/>
              </a:defRPr>
            </a:pPr>
            <a:r>
              <a:t>T_required = m × g × r</a:t>
            </a:r>
          </a:p>
        </p:txBody>
      </p:sp>
      <p:sp>
        <p:nvSpPr>
          <p:cNvPr id="12" name="TextBox 11"/>
          <p:cNvSpPr txBox="1"/>
          <p:nvPr/>
        </p:nvSpPr>
        <p:spPr>
          <a:xfrm>
            <a:off x="640080" y="3429000"/>
            <a:ext cx="5120640" cy="548640"/>
          </a:xfrm>
          <a:prstGeom prst="rect">
            <a:avLst/>
          </a:prstGeom>
          <a:noFill/>
        </p:spPr>
        <p:txBody>
          <a:bodyPr wrap="square">
            <a:spAutoFit/>
          </a:bodyPr>
          <a:lstStyle/>
          <a:p>
            <a:pPr algn="l">
              <a:defRPr sz="1100" b="0">
                <a:solidFill>
                  <a:srgbClr val="5A6478"/>
                </a:solidFill>
                <a:latin typeface="Segoe UI"/>
              </a:defRPr>
            </a:pPr>
            <a:r>
              <a:t>Where: m = load mass (kg), g = 9.81 m/s², r = 0.02 m</a:t>
            </a:r>
          </a:p>
        </p:txBody>
      </p:sp>
      <p:sp>
        <p:nvSpPr>
          <p:cNvPr id="13" name="Rounded Rectangle 12"/>
          <p:cNvSpPr/>
          <p:nvPr/>
        </p:nvSpPr>
        <p:spPr>
          <a:xfrm>
            <a:off x="457200" y="4297680"/>
            <a:ext cx="5486400" cy="219456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343400"/>
            <a:ext cx="5120640" cy="274320"/>
          </a:xfrm>
          <a:prstGeom prst="rect">
            <a:avLst/>
          </a:prstGeom>
          <a:noFill/>
        </p:spPr>
        <p:txBody>
          <a:bodyPr wrap="square">
            <a:spAutoFit/>
          </a:bodyPr>
          <a:lstStyle/>
          <a:p>
            <a:pPr algn="l">
              <a:defRPr sz="1400" b="1">
                <a:solidFill>
                  <a:srgbClr val="FF4060"/>
                </a:solidFill>
                <a:latin typeface="Segoe UI"/>
              </a:defRPr>
            </a:pPr>
            <a:r>
              <a:t>③ Step Loss Condition</a:t>
            </a:r>
          </a:p>
        </p:txBody>
      </p:sp>
      <p:sp>
        <p:nvSpPr>
          <p:cNvPr id="15" name="TextBox 14"/>
          <p:cNvSpPr txBox="1"/>
          <p:nvPr/>
        </p:nvSpPr>
        <p:spPr>
          <a:xfrm>
            <a:off x="640080" y="4663440"/>
            <a:ext cx="5120640" cy="1645920"/>
          </a:xfrm>
          <a:prstGeom prst="rect">
            <a:avLst/>
          </a:prstGeom>
          <a:noFill/>
        </p:spPr>
        <p:txBody>
          <a:bodyPr wrap="square">
            <a:spAutoFit/>
          </a:bodyPr>
          <a:lstStyle/>
          <a:p>
            <a:pPr algn="l">
              <a:defRPr sz="1300" b="0">
                <a:solidFill>
                  <a:srgbClr val="E8ECF4"/>
                </a:solidFill>
                <a:latin typeface="Consolas"/>
              </a:defRPr>
            </a:pPr>
            <a:r>
              <a:t>IF T_req ≤ T_avail:</a:t>
            </a:r>
            <a:br/>
            <a:r>
              <a:t>    actual_steps = commanded_steps   (no loss)</a:t>
            </a:r>
            <a:br/>
            <a:br/>
            <a:r>
              <a:t>IF T_req &gt; T_avail:</a:t>
            </a:r>
            <a:br/>
            <a:r>
              <a:t>    actual_steps = commanded × (T_avail / T_req)</a:t>
            </a:r>
            <a:br/>
            <a:r>
              <a:t>    steps_missed = commanded - actual_steps</a:t>
            </a:r>
          </a:p>
        </p:txBody>
      </p:sp>
      <p:sp>
        <p:nvSpPr>
          <p:cNvPr id="16" name="Rounded Rectangle 15"/>
          <p:cNvSpPr/>
          <p:nvPr/>
        </p:nvSpPr>
        <p:spPr>
          <a:xfrm>
            <a:off x="6217920" y="1005840"/>
            <a:ext cx="5486400" cy="5486400"/>
          </a:xfrm>
          <a:prstGeom prst="roundRect">
            <a:avLst/>
          </a:prstGeom>
          <a:solidFill>
            <a:srgbClr val="1A2336"/>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097280"/>
            <a:ext cx="5120640" cy="320040"/>
          </a:xfrm>
          <a:prstGeom prst="rect">
            <a:avLst/>
          </a:prstGeom>
          <a:noFill/>
        </p:spPr>
        <p:txBody>
          <a:bodyPr wrap="square">
            <a:spAutoFit/>
          </a:bodyPr>
          <a:lstStyle/>
          <a:p>
            <a:pPr algn="l">
              <a:defRPr sz="1600" b="1">
                <a:solidFill>
                  <a:srgbClr val="00E676"/>
                </a:solidFill>
                <a:latin typeface="Segoe UI"/>
              </a:defRPr>
            </a:pPr>
            <a:r>
              <a:t>Worked Examples</a:t>
            </a:r>
          </a:p>
        </p:txBody>
      </p:sp>
      <p:sp>
        <p:nvSpPr>
          <p:cNvPr id="18" name="TextBox 17"/>
          <p:cNvSpPr txBox="1"/>
          <p:nvPr/>
        </p:nvSpPr>
        <p:spPr>
          <a:xfrm>
            <a:off x="6400800" y="1554480"/>
            <a:ext cx="5120640" cy="4754880"/>
          </a:xfrm>
          <a:prstGeom prst="rect">
            <a:avLst/>
          </a:prstGeom>
          <a:noFill/>
        </p:spPr>
        <p:txBody>
          <a:bodyPr wrap="square">
            <a:spAutoFit/>
          </a:bodyPr>
          <a:lstStyle/>
          <a:p>
            <a:pPr algn="l">
              <a:defRPr sz="1100" b="0">
                <a:solidFill>
                  <a:srgbClr val="8B95A8"/>
                </a:solidFill>
                <a:latin typeface="Consolas"/>
              </a:defRPr>
            </a:pPr>
            <a:r>
              <a:t>Example 1: No Step Loss (3 kg load, 1000 steps)</a:t>
            </a:r>
            <a:br/>
            <a:r>
              <a:t>━━━━━━━━━━━━━━━━━━━━━━━━━━━━━━━━━━━</a:t>
            </a:r>
            <a:br/>
            <a:r>
              <a:t>T_req = 3 × 9.81 × 0.02 = 0.589 Nm</a:t>
            </a:r>
            <a:br/>
            <a:r>
              <a:t>T_req (0.589) ≤ T_avail (1.0) → No loss!</a:t>
            </a:r>
            <a:br/>
            <a:r>
              <a:t>actual_steps = 1000</a:t>
            </a:r>
            <a:br/>
            <a:r>
              <a:t>displacement = (1000/200) × 2π × 0.02 × 1000</a:t>
            </a:r>
            <a:br/>
            <a:r>
              <a:t>             = 628.32 mm</a:t>
            </a:r>
            <a:br/>
            <a:br/>
            <a:r>
              <a:t>Example 2: Step Loss (8 kg load, 1000 steps)</a:t>
            </a:r>
            <a:br/>
            <a:r>
              <a:t>━━━━━━━━━━━━━━━━━━━━━━━━━━━━━━━━━━━</a:t>
            </a:r>
            <a:br/>
            <a:r>
              <a:t>T_req = 8 × 9.81 × 0.02 = 1.570 Nm</a:t>
            </a:r>
            <a:br/>
            <a:r>
              <a:t>T_req (1.570) &gt; T_avail (1.0) → STEP LOSS!</a:t>
            </a:r>
            <a:br/>
            <a:r>
              <a:t>ratio = 1.0 / 1.570 = 0.637</a:t>
            </a:r>
            <a:br/>
            <a:r>
              <a:t>actual_steps = 1000 × 0.637 = 637 steps</a:t>
            </a:r>
            <a:br/>
            <a:r>
              <a:t>missed = 1000 - 637 = 363 steps</a:t>
            </a:r>
            <a:br/>
            <a:r>
              <a:t>expected disp = 628.32 mm</a:t>
            </a:r>
            <a:br/>
            <a:r>
              <a:t>actual disp   = 400.25 mm</a:t>
            </a:r>
            <a:br/>
            <a:r>
              <a:t>error         = 228.07 mm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E17"/>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48640"/>
          </a:xfrm>
          <a:prstGeom prst="rect">
            <a:avLst/>
          </a:prstGeom>
          <a:noFill/>
        </p:spPr>
        <p:txBody>
          <a:bodyPr wrap="square">
            <a:spAutoFit/>
          </a:bodyPr>
          <a:lstStyle/>
          <a:p>
            <a:pPr algn="l">
              <a:defRPr sz="2400" b="1">
                <a:solidFill>
                  <a:srgbClr val="00D4FF"/>
                </a:solidFill>
                <a:latin typeface="Segoe UI"/>
              </a:defRPr>
            </a:pPr>
            <a:r>
              <a:t>6. Simulation Architecture</a:t>
            </a:r>
          </a:p>
        </p:txBody>
      </p:sp>
      <p:sp>
        <p:nvSpPr>
          <p:cNvPr id="4" name="TextBox 3"/>
          <p:cNvSpPr txBox="1"/>
          <p:nvPr/>
        </p:nvSpPr>
        <p:spPr>
          <a:xfrm>
            <a:off x="457200" y="502920"/>
            <a:ext cx="9144000" cy="320040"/>
          </a:xfrm>
          <a:prstGeom prst="rect">
            <a:avLst/>
          </a:prstGeom>
          <a:noFill/>
        </p:spPr>
        <p:txBody>
          <a:bodyPr wrap="square">
            <a:spAutoFit/>
          </a:bodyPr>
          <a:lstStyle/>
          <a:p>
            <a:pPr algn="l">
              <a:defRPr sz="1100" b="0">
                <a:solidFill>
                  <a:srgbClr val="5A6478"/>
                </a:solidFill>
                <a:latin typeface="Segoe UI"/>
              </a:defRPr>
            </a:pPr>
            <a:r>
              <a:t>Software design and animation engine</a:t>
            </a:r>
          </a:p>
        </p:txBody>
      </p:sp>
      <p:sp>
        <p:nvSpPr>
          <p:cNvPr id="5" name="Rounded Rectangle 4"/>
          <p:cNvSpPr/>
          <p:nvPr/>
        </p:nvSpPr>
        <p:spPr>
          <a:xfrm>
            <a:off x="457200" y="1005840"/>
            <a:ext cx="3657600" cy="237744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97280"/>
            <a:ext cx="3291840" cy="274320"/>
          </a:xfrm>
          <a:prstGeom prst="rect">
            <a:avLst/>
          </a:prstGeom>
          <a:noFill/>
        </p:spPr>
        <p:txBody>
          <a:bodyPr wrap="square">
            <a:spAutoFit/>
          </a:bodyPr>
          <a:lstStyle/>
          <a:p>
            <a:pPr algn="l">
              <a:defRPr sz="1400" b="1">
                <a:solidFill>
                  <a:srgbClr val="00D4FF"/>
                </a:solidFill>
                <a:latin typeface="Segoe UI"/>
              </a:defRPr>
            </a:pPr>
            <a:r>
              <a:t>Technology Stack</a:t>
            </a:r>
          </a:p>
        </p:txBody>
      </p:sp>
      <p:sp>
        <p:nvSpPr>
          <p:cNvPr id="7" name="TextBox 6"/>
          <p:cNvSpPr txBox="1"/>
          <p:nvPr/>
        </p:nvSpPr>
        <p:spPr>
          <a:xfrm>
            <a:off x="640080" y="1463040"/>
            <a:ext cx="3291840" cy="1828800"/>
          </a:xfrm>
          <a:prstGeom prst="rect">
            <a:avLst/>
          </a:prstGeom>
          <a:noFill/>
        </p:spPr>
        <p:txBody>
          <a:bodyPr wrap="square">
            <a:spAutoFit/>
          </a:bodyPr>
          <a:lstStyle/>
          <a:p>
            <a:pPr>
              <a:spcAft>
                <a:spcPts val="600"/>
              </a:spcAft>
            </a:pPr>
            <a:r>
              <a:rPr sz="1200" b="1">
                <a:solidFill>
                  <a:srgbClr val="00E676"/>
                </a:solidFill>
                <a:latin typeface="Consolas"/>
              </a:rPr>
              <a:t>▸  </a:t>
            </a:r>
            <a:r>
              <a:rPr sz="1200">
                <a:solidFill>
                  <a:srgbClr val="E8ECF4"/>
                </a:solidFill>
                <a:latin typeface="Segoe UI"/>
              </a:rPr>
              <a:t>Language: Python 3.x</a:t>
            </a:r>
          </a:p>
          <a:p>
            <a:pPr>
              <a:spcAft>
                <a:spcPts val="600"/>
              </a:spcAft>
            </a:pPr>
            <a:r>
              <a:rPr sz="1200" b="1">
                <a:solidFill>
                  <a:srgbClr val="00E676"/>
                </a:solidFill>
                <a:latin typeface="Consolas"/>
              </a:rPr>
              <a:t>▸  </a:t>
            </a:r>
            <a:r>
              <a:rPr sz="1200">
                <a:solidFill>
                  <a:srgbClr val="E8ECF4"/>
                </a:solidFill>
                <a:latin typeface="Segoe UI"/>
              </a:rPr>
              <a:t>GUI: Tkinter (built-in)</a:t>
            </a:r>
          </a:p>
          <a:p>
            <a:pPr>
              <a:spcAft>
                <a:spcPts val="600"/>
              </a:spcAft>
            </a:pPr>
            <a:r>
              <a:rPr sz="1200" b="1">
                <a:solidFill>
                  <a:srgbClr val="00E676"/>
                </a:solidFill>
                <a:latin typeface="Consolas"/>
              </a:rPr>
              <a:t>▸  </a:t>
            </a:r>
            <a:r>
              <a:rPr sz="1200">
                <a:solidFill>
                  <a:srgbClr val="E8ECF4"/>
                </a:solidFill>
                <a:latin typeface="Segoe UI"/>
              </a:rPr>
              <a:t>Animation: Canvas + after()</a:t>
            </a:r>
          </a:p>
          <a:p>
            <a:pPr>
              <a:spcAft>
                <a:spcPts val="600"/>
              </a:spcAft>
            </a:pPr>
            <a:r>
              <a:rPr sz="1200" b="1">
                <a:solidFill>
                  <a:srgbClr val="00E676"/>
                </a:solidFill>
                <a:latin typeface="Consolas"/>
              </a:rPr>
              <a:t>▸  </a:t>
            </a:r>
            <a:r>
              <a:rPr sz="1200">
                <a:solidFill>
                  <a:srgbClr val="E8ECF4"/>
                </a:solidFill>
                <a:latin typeface="Segoe UI"/>
              </a:rPr>
              <a:t>Physics: Custom engine</a:t>
            </a:r>
          </a:p>
          <a:p>
            <a:pPr>
              <a:spcAft>
                <a:spcPts val="600"/>
              </a:spcAft>
            </a:pPr>
            <a:r>
              <a:rPr sz="1200" b="1">
                <a:solidFill>
                  <a:srgbClr val="00E676"/>
                </a:solidFill>
                <a:latin typeface="Consolas"/>
              </a:rPr>
              <a:t>▸  </a:t>
            </a:r>
            <a:r>
              <a:rPr sz="1200">
                <a:solidFill>
                  <a:srgbClr val="E8ECF4"/>
                </a:solidFill>
                <a:latin typeface="Segoe UI"/>
              </a:rPr>
              <a:t>No external dependencies</a:t>
            </a:r>
          </a:p>
        </p:txBody>
      </p:sp>
      <p:sp>
        <p:nvSpPr>
          <p:cNvPr id="8" name="Rounded Rectangle 7"/>
          <p:cNvSpPr/>
          <p:nvPr/>
        </p:nvSpPr>
        <p:spPr>
          <a:xfrm>
            <a:off x="4389120" y="1005840"/>
            <a:ext cx="3657600" cy="237744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097280"/>
            <a:ext cx="3291840" cy="274320"/>
          </a:xfrm>
          <a:prstGeom prst="rect">
            <a:avLst/>
          </a:prstGeom>
          <a:noFill/>
        </p:spPr>
        <p:txBody>
          <a:bodyPr wrap="square">
            <a:spAutoFit/>
          </a:bodyPr>
          <a:lstStyle/>
          <a:p>
            <a:pPr algn="l">
              <a:defRPr sz="1400" b="1">
                <a:solidFill>
                  <a:srgbClr val="FF9800"/>
                </a:solidFill>
                <a:latin typeface="Segoe UI"/>
              </a:defRPr>
            </a:pPr>
            <a:r>
              <a:t>Core Modules</a:t>
            </a:r>
          </a:p>
        </p:txBody>
      </p:sp>
      <p:sp>
        <p:nvSpPr>
          <p:cNvPr id="10" name="TextBox 9"/>
          <p:cNvSpPr txBox="1"/>
          <p:nvPr/>
        </p:nvSpPr>
        <p:spPr>
          <a:xfrm>
            <a:off x="4572000" y="1463040"/>
            <a:ext cx="3291840" cy="1828800"/>
          </a:xfrm>
          <a:prstGeom prst="rect">
            <a:avLst/>
          </a:prstGeom>
          <a:noFill/>
        </p:spPr>
        <p:txBody>
          <a:bodyPr wrap="square">
            <a:spAutoFit/>
          </a:bodyPr>
          <a:lstStyle/>
          <a:p>
            <a:pPr>
              <a:spcAft>
                <a:spcPts val="600"/>
              </a:spcAft>
            </a:pPr>
            <a:r>
              <a:rPr sz="1200" b="1">
                <a:solidFill>
                  <a:srgbClr val="E8ECF4"/>
                </a:solidFill>
                <a:latin typeface="Consolas"/>
              </a:rPr>
              <a:t>▸  </a:t>
            </a:r>
            <a:r>
              <a:rPr sz="1200">
                <a:solidFill>
                  <a:srgbClr val="E8ECF4"/>
                </a:solidFill>
                <a:latin typeface="Segoe UI"/>
              </a:rPr>
              <a:t>PhysicsEngine — torque/step calculations</a:t>
            </a:r>
          </a:p>
          <a:p>
            <a:pPr>
              <a:spcAft>
                <a:spcPts val="600"/>
              </a:spcAft>
            </a:pPr>
            <a:r>
              <a:rPr sz="1200" b="1">
                <a:solidFill>
                  <a:srgbClr val="E8ECF4"/>
                </a:solidFill>
                <a:latin typeface="Consolas"/>
              </a:rPr>
              <a:t>▸  </a:t>
            </a:r>
            <a:r>
              <a:rPr sz="1200">
                <a:solidFill>
                  <a:srgbClr val="E8ECF4"/>
                </a:solidFill>
                <a:latin typeface="Segoe UI"/>
              </a:rPr>
              <a:t>StepperSimApp — main application class</a:t>
            </a:r>
          </a:p>
          <a:p>
            <a:pPr>
              <a:spcAft>
                <a:spcPts val="600"/>
              </a:spcAft>
            </a:pPr>
            <a:r>
              <a:rPr sz="1200" b="1">
                <a:solidFill>
                  <a:srgbClr val="E8ECF4"/>
                </a:solidFill>
                <a:latin typeface="Consolas"/>
              </a:rPr>
              <a:t>▸  </a:t>
            </a:r>
            <a:r>
              <a:rPr sz="1200">
                <a:solidFill>
                  <a:srgbClr val="E8ECF4"/>
                </a:solidFill>
                <a:latin typeface="Segoe UI"/>
              </a:rPr>
              <a:t>Canvas Renderer — 2D mechanical drawing</a:t>
            </a:r>
          </a:p>
          <a:p>
            <a:pPr>
              <a:spcAft>
                <a:spcPts val="600"/>
              </a:spcAft>
            </a:pPr>
            <a:r>
              <a:rPr sz="1200" b="1">
                <a:solidFill>
                  <a:srgbClr val="E8ECF4"/>
                </a:solidFill>
                <a:latin typeface="Consolas"/>
              </a:rPr>
              <a:t>▸  </a:t>
            </a:r>
            <a:r>
              <a:rPr sz="1200">
                <a:solidFill>
                  <a:srgbClr val="E8ECF4"/>
                </a:solidFill>
                <a:latin typeface="Segoe UI"/>
              </a:rPr>
              <a:t>Animation Loop — 60 FPS via after(16ms)</a:t>
            </a:r>
          </a:p>
          <a:p>
            <a:pPr>
              <a:spcAft>
                <a:spcPts val="600"/>
              </a:spcAft>
            </a:pPr>
            <a:r>
              <a:rPr sz="1200" b="1">
                <a:solidFill>
                  <a:srgbClr val="E8ECF4"/>
                </a:solidFill>
                <a:latin typeface="Consolas"/>
              </a:rPr>
              <a:t>▸  </a:t>
            </a:r>
            <a:r>
              <a:rPr sz="1200">
                <a:solidFill>
                  <a:srgbClr val="E8ECF4"/>
                </a:solidFill>
                <a:latin typeface="Segoe UI"/>
              </a:rPr>
              <a:t>Data Logger — timestamped event log</a:t>
            </a:r>
          </a:p>
        </p:txBody>
      </p:sp>
      <p:sp>
        <p:nvSpPr>
          <p:cNvPr id="11" name="Rounded Rectangle 10"/>
          <p:cNvSpPr/>
          <p:nvPr/>
        </p:nvSpPr>
        <p:spPr>
          <a:xfrm>
            <a:off x="8321040" y="1005840"/>
            <a:ext cx="3474720" cy="237744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0" y="1097280"/>
            <a:ext cx="3108960" cy="274320"/>
          </a:xfrm>
          <a:prstGeom prst="rect">
            <a:avLst/>
          </a:prstGeom>
          <a:noFill/>
        </p:spPr>
        <p:txBody>
          <a:bodyPr wrap="square">
            <a:spAutoFit/>
          </a:bodyPr>
          <a:lstStyle/>
          <a:p>
            <a:pPr algn="l">
              <a:defRPr sz="1400" b="1">
                <a:solidFill>
                  <a:srgbClr val="7B2FF7"/>
                </a:solidFill>
                <a:latin typeface="Segoe UI"/>
              </a:defRPr>
            </a:pPr>
            <a:r>
              <a:t>Animation Pipeline</a:t>
            </a:r>
          </a:p>
        </p:txBody>
      </p:sp>
      <p:sp>
        <p:nvSpPr>
          <p:cNvPr id="13" name="TextBox 12"/>
          <p:cNvSpPr txBox="1"/>
          <p:nvPr/>
        </p:nvSpPr>
        <p:spPr>
          <a:xfrm>
            <a:off x="8503920" y="1463040"/>
            <a:ext cx="3108960" cy="1828800"/>
          </a:xfrm>
          <a:prstGeom prst="rect">
            <a:avLst/>
          </a:prstGeom>
          <a:noFill/>
        </p:spPr>
        <p:txBody>
          <a:bodyPr wrap="square">
            <a:spAutoFit/>
          </a:bodyPr>
          <a:lstStyle/>
          <a:p>
            <a:pPr>
              <a:spcAft>
                <a:spcPts val="600"/>
              </a:spcAft>
            </a:pPr>
            <a:r>
              <a:rPr sz="1000" b="1">
                <a:solidFill>
                  <a:srgbClr val="8B95A8"/>
                </a:solidFill>
                <a:latin typeface="Consolas"/>
              </a:rPr>
              <a:t>1.  </a:t>
            </a:r>
            <a:r>
              <a:rPr sz="1000">
                <a:solidFill>
                  <a:srgbClr val="E8ECF4"/>
                </a:solidFill>
                <a:latin typeface="Segoe UI"/>
              </a:rPr>
              <a:t>Calculate dt (time delta)</a:t>
            </a:r>
          </a:p>
          <a:p>
            <a:pPr>
              <a:spcAft>
                <a:spcPts val="600"/>
              </a:spcAft>
            </a:pPr>
            <a:r>
              <a:rPr sz="1000" b="1">
                <a:solidFill>
                  <a:srgbClr val="8B95A8"/>
                </a:solidFill>
                <a:latin typeface="Consolas"/>
              </a:rPr>
              <a:t>2.  </a:t>
            </a:r>
            <a:r>
              <a:rPr sz="1000">
                <a:solidFill>
                  <a:srgbClr val="E8ECF4"/>
                </a:solidFill>
                <a:latin typeface="Segoe UI"/>
              </a:rPr>
              <a:t>Advance step counter by stepRate × dt</a:t>
            </a:r>
          </a:p>
          <a:p>
            <a:pPr>
              <a:spcAft>
                <a:spcPts val="600"/>
              </a:spcAft>
            </a:pPr>
            <a:r>
              <a:rPr sz="1000" b="1">
                <a:solidFill>
                  <a:srgbClr val="8B95A8"/>
                </a:solidFill>
                <a:latin typeface="Consolas"/>
              </a:rPr>
              <a:t>3.  </a:t>
            </a:r>
            <a:r>
              <a:rPr sz="1000">
                <a:solidFill>
                  <a:srgbClr val="E8ECF4"/>
                </a:solidFill>
                <a:latin typeface="Segoe UI"/>
              </a:rPr>
              <a:t>Compute actual steps (with loss)</a:t>
            </a:r>
          </a:p>
          <a:p>
            <a:pPr>
              <a:spcAft>
                <a:spcPts val="600"/>
              </a:spcAft>
            </a:pPr>
            <a:r>
              <a:rPr sz="1000" b="1">
                <a:solidFill>
                  <a:srgbClr val="8B95A8"/>
                </a:solidFill>
                <a:latin typeface="Consolas"/>
              </a:rPr>
              <a:t>4.  </a:t>
            </a:r>
            <a:r>
              <a:rPr sz="1000">
                <a:solidFill>
                  <a:srgbClr val="E8ECF4"/>
                </a:solidFill>
                <a:latin typeface="Segoe UI"/>
              </a:rPr>
              <a:t>Update pulley angle</a:t>
            </a:r>
          </a:p>
          <a:p>
            <a:pPr>
              <a:spcAft>
                <a:spcPts val="600"/>
              </a:spcAft>
            </a:pPr>
            <a:r>
              <a:rPr sz="1000" b="1">
                <a:solidFill>
                  <a:srgbClr val="8B95A8"/>
                </a:solidFill>
                <a:latin typeface="Consolas"/>
              </a:rPr>
              <a:t>5.  </a:t>
            </a:r>
            <a:r>
              <a:rPr sz="1000">
                <a:solidFill>
                  <a:srgbClr val="E8ECF4"/>
                </a:solidFill>
                <a:latin typeface="Segoe UI"/>
              </a:rPr>
              <a:t>Redraw canvas</a:t>
            </a:r>
          </a:p>
          <a:p>
            <a:pPr>
              <a:spcAft>
                <a:spcPts val="600"/>
              </a:spcAft>
            </a:pPr>
            <a:r>
              <a:rPr sz="1000" b="1">
                <a:solidFill>
                  <a:srgbClr val="8B95A8"/>
                </a:solidFill>
                <a:latin typeface="Consolas"/>
              </a:rPr>
              <a:t>6.  </a:t>
            </a:r>
            <a:r>
              <a:rPr sz="1000">
                <a:solidFill>
                  <a:srgbClr val="E8ECF4"/>
                </a:solidFill>
                <a:latin typeface="Segoe UI"/>
              </a:rPr>
              <a:t>Update data panel</a:t>
            </a:r>
          </a:p>
          <a:p>
            <a:pPr>
              <a:spcAft>
                <a:spcPts val="600"/>
              </a:spcAft>
            </a:pPr>
            <a:r>
              <a:rPr sz="1000" b="1">
                <a:solidFill>
                  <a:srgbClr val="8B95A8"/>
                </a:solidFill>
                <a:latin typeface="Consolas"/>
              </a:rPr>
              <a:t>7.  </a:t>
            </a:r>
            <a:r>
              <a:rPr sz="1000">
                <a:solidFill>
                  <a:srgbClr val="E8ECF4"/>
                </a:solidFill>
                <a:latin typeface="Segoe UI"/>
              </a:rPr>
              <a:t>Schedule next frame (16ms)</a:t>
            </a:r>
          </a:p>
        </p:txBody>
      </p:sp>
      <p:sp>
        <p:nvSpPr>
          <p:cNvPr id="14" name="Rounded Rectangle 13"/>
          <p:cNvSpPr/>
          <p:nvPr/>
        </p:nvSpPr>
        <p:spPr>
          <a:xfrm>
            <a:off x="457200" y="3657600"/>
            <a:ext cx="11247120" cy="2926080"/>
          </a:xfrm>
          <a:prstGeom prst="roundRect">
            <a:avLst/>
          </a:prstGeom>
          <a:solidFill>
            <a:srgbClr val="1A2336"/>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749039"/>
            <a:ext cx="10881360" cy="320040"/>
          </a:xfrm>
          <a:prstGeom prst="rect">
            <a:avLst/>
          </a:prstGeom>
          <a:noFill/>
        </p:spPr>
        <p:txBody>
          <a:bodyPr wrap="square">
            <a:spAutoFit/>
          </a:bodyPr>
          <a:lstStyle/>
          <a:p>
            <a:pPr algn="l">
              <a:defRPr sz="1600" b="1">
                <a:solidFill>
                  <a:srgbClr val="00D4FF"/>
                </a:solidFill>
                <a:latin typeface="Segoe UI"/>
              </a:defRPr>
            </a:pPr>
            <a:r>
              <a:t>Three-Panel Layout Architecture</a:t>
            </a:r>
          </a:p>
        </p:txBody>
      </p:sp>
      <p:sp>
        <p:nvSpPr>
          <p:cNvPr id="16" name="Rounded Rectangle 15"/>
          <p:cNvSpPr/>
          <p:nvPr/>
        </p:nvSpPr>
        <p:spPr>
          <a:xfrm>
            <a:off x="640080" y="4160520"/>
            <a:ext cx="3291840" cy="219456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206240"/>
            <a:ext cx="3017520" cy="274320"/>
          </a:xfrm>
          <a:prstGeom prst="rect">
            <a:avLst/>
          </a:prstGeom>
          <a:noFill/>
        </p:spPr>
        <p:txBody>
          <a:bodyPr wrap="square">
            <a:spAutoFit/>
          </a:bodyPr>
          <a:lstStyle/>
          <a:p>
            <a:pPr algn="l">
              <a:defRPr sz="1200" b="1">
                <a:solidFill>
                  <a:srgbClr val="00E676"/>
                </a:solidFill>
                <a:latin typeface="Segoe UI"/>
              </a:defRPr>
            </a:pPr>
            <a:r>
              <a:t>LEFT: Control Panel</a:t>
            </a:r>
          </a:p>
        </p:txBody>
      </p:sp>
      <p:sp>
        <p:nvSpPr>
          <p:cNvPr id="18" name="TextBox 17"/>
          <p:cNvSpPr txBox="1"/>
          <p:nvPr/>
        </p:nvSpPr>
        <p:spPr>
          <a:xfrm>
            <a:off x="777240" y="4526280"/>
            <a:ext cx="3017520" cy="1737360"/>
          </a:xfrm>
          <a:prstGeom prst="rect">
            <a:avLst/>
          </a:prstGeom>
          <a:noFill/>
        </p:spPr>
        <p:txBody>
          <a:bodyPr wrap="square">
            <a:spAutoFit/>
          </a:bodyPr>
          <a:lstStyle/>
          <a:p>
            <a:pPr algn="l">
              <a:defRPr sz="1000" b="0">
                <a:solidFill>
                  <a:srgbClr val="8B95A8"/>
                </a:solidFill>
                <a:latin typeface="Segoe UI"/>
              </a:defRPr>
            </a:pPr>
            <a:r>
              <a:t>Motor Start/Stop</a:t>
            </a:r>
            <a:br/>
            <a:r>
              <a:t>Direction toggle</a:t>
            </a:r>
            <a:br/>
            <a:r>
              <a:t>Speed slider (0–300 RPM)</a:t>
            </a:r>
            <a:br/>
            <a:r>
              <a:t>Load slider (0–15 kg)</a:t>
            </a:r>
            <a:br/>
            <a:r>
              <a:t>Step input field</a:t>
            </a:r>
            <a:br/>
            <a:r>
              <a:t>Reset button</a:t>
            </a:r>
          </a:p>
        </p:txBody>
      </p:sp>
      <p:sp>
        <p:nvSpPr>
          <p:cNvPr id="19" name="Rounded Rectangle 18"/>
          <p:cNvSpPr/>
          <p:nvPr/>
        </p:nvSpPr>
        <p:spPr>
          <a:xfrm>
            <a:off x="4114800" y="4160520"/>
            <a:ext cx="3840480" cy="219456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51960" y="4206240"/>
            <a:ext cx="3566160" cy="274320"/>
          </a:xfrm>
          <a:prstGeom prst="rect">
            <a:avLst/>
          </a:prstGeom>
          <a:noFill/>
        </p:spPr>
        <p:txBody>
          <a:bodyPr wrap="square">
            <a:spAutoFit/>
          </a:bodyPr>
          <a:lstStyle/>
          <a:p>
            <a:pPr algn="l">
              <a:defRPr sz="1200" b="1">
                <a:solidFill>
                  <a:srgbClr val="00D4FF"/>
                </a:solidFill>
                <a:latin typeface="Segoe UI"/>
              </a:defRPr>
            </a:pPr>
            <a:r>
              <a:t>CENTER: Simulation</a:t>
            </a:r>
          </a:p>
        </p:txBody>
      </p:sp>
      <p:sp>
        <p:nvSpPr>
          <p:cNvPr id="21" name="TextBox 20"/>
          <p:cNvSpPr txBox="1"/>
          <p:nvPr/>
        </p:nvSpPr>
        <p:spPr>
          <a:xfrm>
            <a:off x="4251960" y="4526280"/>
            <a:ext cx="3566160" cy="1737360"/>
          </a:xfrm>
          <a:prstGeom prst="rect">
            <a:avLst/>
          </a:prstGeom>
          <a:noFill/>
        </p:spPr>
        <p:txBody>
          <a:bodyPr wrap="square">
            <a:spAutoFit/>
          </a:bodyPr>
          <a:lstStyle/>
          <a:p>
            <a:pPr algn="l">
              <a:defRPr sz="1000" b="0">
                <a:solidFill>
                  <a:srgbClr val="8B95A8"/>
                </a:solidFill>
                <a:latin typeface="Segoe UI"/>
              </a:defRPr>
            </a:pPr>
            <a:r>
              <a:t>Canvas-based 2D animation</a:t>
            </a:r>
            <a:br/>
            <a:r>
              <a:t>Motor block + shaft</a:t>
            </a:r>
            <a:br/>
            <a:r>
              <a:t>Rotating pulley with spokes</a:t>
            </a:r>
            <a:br/>
            <a:r>
              <a:t>String + hanging weight</a:t>
            </a:r>
            <a:br/>
            <a:r>
              <a:t>Linear ruler scale</a:t>
            </a:r>
            <a:br/>
            <a:r>
              <a:t>Green/Red position markers</a:t>
            </a:r>
          </a:p>
        </p:txBody>
      </p:sp>
      <p:sp>
        <p:nvSpPr>
          <p:cNvPr id="22" name="Rounded Rectangle 21"/>
          <p:cNvSpPr/>
          <p:nvPr/>
        </p:nvSpPr>
        <p:spPr>
          <a:xfrm>
            <a:off x="8138159" y="4160520"/>
            <a:ext cx="3291840" cy="219456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19" y="4206240"/>
            <a:ext cx="3017520" cy="274320"/>
          </a:xfrm>
          <a:prstGeom prst="rect">
            <a:avLst/>
          </a:prstGeom>
          <a:noFill/>
        </p:spPr>
        <p:txBody>
          <a:bodyPr wrap="square">
            <a:spAutoFit/>
          </a:bodyPr>
          <a:lstStyle/>
          <a:p>
            <a:pPr algn="l">
              <a:defRPr sz="1200" b="1">
                <a:solidFill>
                  <a:srgbClr val="FF9800"/>
                </a:solidFill>
                <a:latin typeface="Segoe UI"/>
              </a:defRPr>
            </a:pPr>
            <a:r>
              <a:t>RIGHT: Data Display</a:t>
            </a:r>
          </a:p>
        </p:txBody>
      </p:sp>
      <p:sp>
        <p:nvSpPr>
          <p:cNvPr id="24" name="TextBox 23"/>
          <p:cNvSpPr txBox="1"/>
          <p:nvPr/>
        </p:nvSpPr>
        <p:spPr>
          <a:xfrm>
            <a:off x="8275319" y="4526280"/>
            <a:ext cx="3017520" cy="1737360"/>
          </a:xfrm>
          <a:prstGeom prst="rect">
            <a:avLst/>
          </a:prstGeom>
          <a:noFill/>
        </p:spPr>
        <p:txBody>
          <a:bodyPr wrap="square">
            <a:spAutoFit/>
          </a:bodyPr>
          <a:lstStyle/>
          <a:p>
            <a:pPr algn="l">
              <a:defRPr sz="1000" b="0">
                <a:solidFill>
                  <a:srgbClr val="8B95A8"/>
                </a:solidFill>
                <a:latin typeface="Segoe UI"/>
              </a:defRPr>
            </a:pPr>
            <a:r>
              <a:t>Expected displacement (mm)</a:t>
            </a:r>
            <a:br/>
            <a:r>
              <a:t>Actual displacement (mm)</a:t>
            </a:r>
            <a:br/>
            <a:r>
              <a:t>Error &amp; missed steps</a:t>
            </a:r>
            <a:br/>
            <a:r>
              <a:t>Load vs Error graph</a:t>
            </a:r>
            <a:br/>
            <a:r>
              <a:t>Motor status &amp; progress</a:t>
            </a:r>
            <a:br/>
            <a:r>
              <a:t>Timestamped data log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E17"/>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48640"/>
          </a:xfrm>
          <a:prstGeom prst="rect">
            <a:avLst/>
          </a:prstGeom>
          <a:noFill/>
        </p:spPr>
        <p:txBody>
          <a:bodyPr wrap="square">
            <a:spAutoFit/>
          </a:bodyPr>
          <a:lstStyle/>
          <a:p>
            <a:pPr algn="l">
              <a:defRPr sz="2400" b="1">
                <a:solidFill>
                  <a:srgbClr val="00D4FF"/>
                </a:solidFill>
                <a:latin typeface="Segoe UI"/>
              </a:defRPr>
            </a:pPr>
            <a:r>
              <a:t>7. User Interface Overview</a:t>
            </a:r>
          </a:p>
        </p:txBody>
      </p:sp>
      <p:sp>
        <p:nvSpPr>
          <p:cNvPr id="4" name="TextBox 3"/>
          <p:cNvSpPr txBox="1"/>
          <p:nvPr/>
        </p:nvSpPr>
        <p:spPr>
          <a:xfrm>
            <a:off x="457200" y="502920"/>
            <a:ext cx="9144000" cy="320040"/>
          </a:xfrm>
          <a:prstGeom prst="rect">
            <a:avLst/>
          </a:prstGeom>
          <a:noFill/>
        </p:spPr>
        <p:txBody>
          <a:bodyPr wrap="square">
            <a:spAutoFit/>
          </a:bodyPr>
          <a:lstStyle/>
          <a:p>
            <a:pPr algn="l">
              <a:defRPr sz="1100" b="0">
                <a:solidFill>
                  <a:srgbClr val="5A6478"/>
                </a:solidFill>
                <a:latin typeface="Segoe UI"/>
              </a:defRPr>
            </a:pPr>
            <a:r>
              <a:t>Visual elements and their functions</a:t>
            </a:r>
          </a:p>
        </p:txBody>
      </p:sp>
      <p:sp>
        <p:nvSpPr>
          <p:cNvPr id="5" name="Rounded Rectangle 4"/>
          <p:cNvSpPr/>
          <p:nvPr/>
        </p:nvSpPr>
        <p:spPr>
          <a:xfrm>
            <a:off x="457200" y="1005840"/>
            <a:ext cx="3657600" cy="548640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97280"/>
            <a:ext cx="3291840" cy="274320"/>
          </a:xfrm>
          <a:prstGeom prst="rect">
            <a:avLst/>
          </a:prstGeom>
          <a:noFill/>
        </p:spPr>
        <p:txBody>
          <a:bodyPr wrap="square">
            <a:spAutoFit/>
          </a:bodyPr>
          <a:lstStyle/>
          <a:p>
            <a:pPr algn="l">
              <a:defRPr sz="1400" b="1">
                <a:solidFill>
                  <a:srgbClr val="00E676"/>
                </a:solidFill>
                <a:latin typeface="Segoe UI"/>
              </a:defRPr>
            </a:pPr>
            <a:r>
              <a:t>Control Panel Elements</a:t>
            </a:r>
          </a:p>
        </p:txBody>
      </p:sp>
      <p:sp>
        <p:nvSpPr>
          <p:cNvPr id="7" name="TextBox 6"/>
          <p:cNvSpPr txBox="1"/>
          <p:nvPr/>
        </p:nvSpPr>
        <p:spPr>
          <a:xfrm>
            <a:off x="640080" y="1463040"/>
            <a:ext cx="3291840" cy="4572000"/>
          </a:xfrm>
          <a:prstGeom prst="rect">
            <a:avLst/>
          </a:prstGeom>
          <a:noFill/>
        </p:spPr>
        <p:txBody>
          <a:bodyPr wrap="square">
            <a:spAutoFit/>
          </a:bodyPr>
          <a:lstStyle/>
          <a:p>
            <a:pPr>
              <a:spcAft>
                <a:spcPts val="600"/>
              </a:spcAft>
            </a:pPr>
            <a:r>
              <a:rPr sz="1200" b="1">
                <a:solidFill>
                  <a:srgbClr val="00E676"/>
                </a:solidFill>
                <a:latin typeface="Consolas"/>
              </a:rPr>
              <a:t>▶  </a:t>
            </a:r>
            <a:r>
              <a:rPr sz="1200">
                <a:solidFill>
                  <a:srgbClr val="E8ECF4"/>
                </a:solidFill>
                <a:latin typeface="Segoe UI"/>
              </a:rPr>
              <a:t>Start Button — begins step execution</a:t>
            </a:r>
          </a:p>
          <a:p>
            <a:pPr>
              <a:spcAft>
                <a:spcPts val="600"/>
              </a:spcAft>
            </a:pPr>
            <a:r>
              <a:rPr sz="1200" b="1">
                <a:solidFill>
                  <a:srgbClr val="FF4060"/>
                </a:solidFill>
                <a:latin typeface="Consolas"/>
              </a:rPr>
              <a:t>■  </a:t>
            </a:r>
            <a:r>
              <a:rPr sz="1200">
                <a:solidFill>
                  <a:srgbClr val="E8ECF4"/>
                </a:solidFill>
                <a:latin typeface="Segoe UI"/>
              </a:rPr>
              <a:t>Stop Button — halts motor immediately</a:t>
            </a:r>
          </a:p>
          <a:p>
            <a:pPr>
              <a:spcAft>
                <a:spcPts val="600"/>
              </a:spcAft>
            </a:pPr>
            <a:r>
              <a:rPr sz="1200" b="1">
                <a:solidFill>
                  <a:srgbClr val="00D4FF"/>
                </a:solidFill>
                <a:latin typeface="Consolas"/>
              </a:rPr>
              <a:t>▲  </a:t>
            </a:r>
            <a:r>
              <a:rPr sz="1200">
                <a:solidFill>
                  <a:srgbClr val="E8ECF4"/>
                </a:solidFill>
                <a:latin typeface="Segoe UI"/>
              </a:rPr>
              <a:t>LIFT (CCW) — motor lifts weight up</a:t>
            </a:r>
          </a:p>
          <a:p>
            <a:pPr>
              <a:spcAft>
                <a:spcPts val="600"/>
              </a:spcAft>
            </a:pPr>
            <a:r>
              <a:rPr sz="1200" b="1">
                <a:solidFill>
                  <a:srgbClr val="00D4FF"/>
                </a:solidFill>
                <a:latin typeface="Consolas"/>
              </a:rPr>
              <a:t>▼  </a:t>
            </a:r>
            <a:r>
              <a:rPr sz="1200">
                <a:solidFill>
                  <a:srgbClr val="E8ECF4"/>
                </a:solidFill>
                <a:latin typeface="Segoe UI"/>
              </a:rPr>
              <a:t>LOWER (CW) — motor lowers weight</a:t>
            </a:r>
          </a:p>
          <a:p>
            <a:pPr>
              <a:spcAft>
                <a:spcPts val="600"/>
              </a:spcAft>
            </a:pPr>
            <a:r>
              <a:rPr sz="1200" b="1">
                <a:solidFill>
                  <a:srgbClr val="FF9800"/>
                </a:solidFill>
                <a:latin typeface="Consolas"/>
              </a:rPr>
              <a:t>◈  </a:t>
            </a:r>
            <a:r>
              <a:rPr sz="1200">
                <a:solidFill>
                  <a:srgbClr val="E8ECF4"/>
                </a:solidFill>
                <a:latin typeface="Segoe UI"/>
              </a:rPr>
              <a:t>Speed Slider (0–300 RPM)</a:t>
            </a:r>
          </a:p>
          <a:p>
            <a:pPr>
              <a:spcAft>
                <a:spcPts val="600"/>
              </a:spcAft>
            </a:pPr>
            <a:r>
              <a:rPr sz="1200" b="1">
                <a:solidFill>
                  <a:srgbClr val="FF9800"/>
                </a:solidFill>
                <a:latin typeface="Consolas"/>
              </a:rPr>
              <a:t>◈  </a:t>
            </a:r>
            <a:r>
              <a:rPr sz="1200">
                <a:solidFill>
                  <a:srgbClr val="E8ECF4"/>
                </a:solidFill>
                <a:latin typeface="Segoe UI"/>
              </a:rPr>
              <a:t>Load Slider (0–15 kg)</a:t>
            </a:r>
          </a:p>
          <a:p>
            <a:pPr>
              <a:spcAft>
                <a:spcPts val="600"/>
              </a:spcAft>
            </a:pPr>
            <a:r>
              <a:rPr sz="1200" b="1">
                <a:solidFill>
                  <a:srgbClr val="E8ECF4"/>
                </a:solidFill>
                <a:latin typeface="Consolas"/>
              </a:rPr>
              <a:t>⌨  </a:t>
            </a:r>
            <a:r>
              <a:rPr sz="1200">
                <a:solidFill>
                  <a:srgbClr val="E8ECF4"/>
                </a:solidFill>
                <a:latin typeface="Segoe UI"/>
              </a:rPr>
              <a:t>Step Input — commanded steps</a:t>
            </a:r>
          </a:p>
          <a:p>
            <a:pPr>
              <a:spcAft>
                <a:spcPts val="600"/>
              </a:spcAft>
            </a:pPr>
            <a:r>
              <a:rPr sz="1200" b="1">
                <a:solidFill>
                  <a:srgbClr val="8B95A8"/>
                </a:solidFill>
                <a:latin typeface="Consolas"/>
              </a:rPr>
              <a:t>↺  </a:t>
            </a:r>
            <a:r>
              <a:rPr sz="1200">
                <a:solidFill>
                  <a:srgbClr val="E8ECF4"/>
                </a:solidFill>
                <a:latin typeface="Segoe UI"/>
              </a:rPr>
              <a:t>Reset — returns to initial state</a:t>
            </a:r>
          </a:p>
        </p:txBody>
      </p:sp>
      <p:sp>
        <p:nvSpPr>
          <p:cNvPr id="8" name="Rounded Rectangle 7"/>
          <p:cNvSpPr/>
          <p:nvPr/>
        </p:nvSpPr>
        <p:spPr>
          <a:xfrm>
            <a:off x="4389120" y="1005840"/>
            <a:ext cx="3840480" cy="548640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097280"/>
            <a:ext cx="3474720" cy="274320"/>
          </a:xfrm>
          <a:prstGeom prst="rect">
            <a:avLst/>
          </a:prstGeom>
          <a:noFill/>
        </p:spPr>
        <p:txBody>
          <a:bodyPr wrap="square">
            <a:spAutoFit/>
          </a:bodyPr>
          <a:lstStyle/>
          <a:p>
            <a:pPr algn="l">
              <a:defRPr sz="1400" b="1">
                <a:solidFill>
                  <a:srgbClr val="00D4FF"/>
                </a:solidFill>
                <a:latin typeface="Segoe UI"/>
              </a:defRPr>
            </a:pPr>
            <a:r>
              <a:t>Simulation Canvas</a:t>
            </a:r>
          </a:p>
        </p:txBody>
      </p:sp>
      <p:sp>
        <p:nvSpPr>
          <p:cNvPr id="10" name="TextBox 9"/>
          <p:cNvSpPr txBox="1"/>
          <p:nvPr/>
        </p:nvSpPr>
        <p:spPr>
          <a:xfrm>
            <a:off x="4572000" y="1463040"/>
            <a:ext cx="3474720" cy="4572000"/>
          </a:xfrm>
          <a:prstGeom prst="rect">
            <a:avLst/>
          </a:prstGeom>
          <a:noFill/>
        </p:spPr>
        <p:txBody>
          <a:bodyPr wrap="square">
            <a:spAutoFit/>
          </a:bodyPr>
          <a:lstStyle/>
          <a:p>
            <a:pPr>
              <a:spcAft>
                <a:spcPts val="600"/>
              </a:spcAft>
            </a:pPr>
            <a:r>
              <a:rPr sz="1100" b="1">
                <a:solidFill>
                  <a:srgbClr val="8B95A8"/>
                </a:solidFill>
                <a:latin typeface="Consolas"/>
              </a:rPr>
              <a:t>⬛  </a:t>
            </a:r>
            <a:r>
              <a:rPr sz="1100">
                <a:solidFill>
                  <a:srgbClr val="E8ECF4"/>
                </a:solidFill>
                <a:latin typeface="Segoe UI"/>
              </a:rPr>
              <a:t>Motor Block — NEMA-23 representation</a:t>
            </a:r>
          </a:p>
          <a:p>
            <a:pPr>
              <a:spcAft>
                <a:spcPts val="600"/>
              </a:spcAft>
            </a:pPr>
            <a:r>
              <a:rPr sz="1100" b="1">
                <a:solidFill>
                  <a:srgbClr val="8B95A8"/>
                </a:solidFill>
                <a:latin typeface="Consolas"/>
              </a:rPr>
              <a:t>  </a:t>
            </a:r>
            <a:r>
              <a:rPr sz="1100">
                <a:solidFill>
                  <a:srgbClr val="E8ECF4"/>
                </a:solidFill>
                <a:latin typeface="Segoe UI"/>
              </a:rPr>
              <a:t>  LED indicator: Green=running, Red=stall</a:t>
            </a:r>
          </a:p>
          <a:p>
            <a:pPr>
              <a:spcAft>
                <a:spcPts val="600"/>
              </a:spcAft>
            </a:pPr>
            <a:r>
              <a:rPr sz="1100" b="1">
                <a:solidFill>
                  <a:srgbClr val="8B95A8"/>
                </a:solidFill>
                <a:latin typeface="Consolas"/>
              </a:rPr>
              <a:t>⊕  </a:t>
            </a:r>
            <a:r>
              <a:rPr sz="1100">
                <a:solidFill>
                  <a:srgbClr val="E8ECF4"/>
                </a:solidFill>
                <a:latin typeface="Segoe UI"/>
              </a:rPr>
              <a:t>Rotating Pulley — 4-spoke with direction dot</a:t>
            </a:r>
          </a:p>
          <a:p>
            <a:pPr>
              <a:spcAft>
                <a:spcPts val="600"/>
              </a:spcAft>
            </a:pPr>
            <a:r>
              <a:rPr sz="1100" b="1">
                <a:solidFill>
                  <a:srgbClr val="8B95A8"/>
                </a:solidFill>
                <a:latin typeface="Consolas"/>
              </a:rPr>
              <a:t>│  </a:t>
            </a:r>
            <a:r>
              <a:rPr sz="1100">
                <a:solidFill>
                  <a:srgbClr val="E8ECF4"/>
                </a:solidFill>
                <a:latin typeface="Segoe UI"/>
              </a:rPr>
              <a:t>String — connects pulley to weight</a:t>
            </a:r>
          </a:p>
          <a:p>
            <a:pPr>
              <a:spcAft>
                <a:spcPts val="600"/>
              </a:spcAft>
            </a:pPr>
            <a:r>
              <a:rPr sz="1100" b="1">
                <a:solidFill>
                  <a:srgbClr val="8B95A8"/>
                </a:solidFill>
                <a:latin typeface="Consolas"/>
              </a:rPr>
              <a:t>▬  </a:t>
            </a:r>
            <a:r>
              <a:rPr sz="1100">
                <a:solidFill>
                  <a:srgbClr val="E8ECF4"/>
                </a:solidFill>
                <a:latin typeface="Segoe UI"/>
              </a:rPr>
              <a:t>Hanging Weight — shows mass label (kg)</a:t>
            </a:r>
          </a:p>
          <a:p>
            <a:pPr>
              <a:spcAft>
                <a:spcPts val="600"/>
              </a:spcAft>
            </a:pPr>
            <a:r>
              <a:rPr sz="1100" b="1">
                <a:solidFill>
                  <a:srgbClr val="8B95A8"/>
                </a:solidFill>
                <a:latin typeface="Consolas"/>
              </a:rPr>
              <a:t>━  </a:t>
            </a:r>
            <a:r>
              <a:rPr sz="1100">
                <a:solidFill>
                  <a:srgbClr val="E8ECF4"/>
                </a:solidFill>
                <a:latin typeface="Segoe UI"/>
              </a:rPr>
              <a:t>Linear Ruler — ±250mm scale range</a:t>
            </a:r>
          </a:p>
          <a:p>
            <a:pPr>
              <a:spcAft>
                <a:spcPts val="600"/>
              </a:spcAft>
            </a:pPr>
            <a:r>
              <a:rPr sz="1100" b="1">
                <a:solidFill>
                  <a:srgbClr val="00E676"/>
                </a:solidFill>
                <a:latin typeface="Consolas"/>
              </a:rPr>
              <a:t>▲  </a:t>
            </a:r>
            <a:r>
              <a:rPr sz="1100">
                <a:solidFill>
                  <a:srgbClr val="E8ECF4"/>
                </a:solidFill>
                <a:latin typeface="Segoe UI"/>
              </a:rPr>
              <a:t>GREEN marker — expected position (EXP)</a:t>
            </a:r>
          </a:p>
          <a:p>
            <a:pPr>
              <a:spcAft>
                <a:spcPts val="600"/>
              </a:spcAft>
            </a:pPr>
            <a:r>
              <a:rPr sz="1100" b="1">
                <a:solidFill>
                  <a:srgbClr val="FF4060"/>
                </a:solidFill>
                <a:latin typeface="Consolas"/>
              </a:rPr>
              <a:t>▲  </a:t>
            </a:r>
            <a:r>
              <a:rPr sz="1100">
                <a:solidFill>
                  <a:srgbClr val="E8ECF4"/>
                </a:solidFill>
                <a:latin typeface="Segoe UI"/>
              </a:rPr>
              <a:t>RED marker — actual position (ACT)</a:t>
            </a:r>
          </a:p>
          <a:p>
            <a:pPr>
              <a:spcAft>
                <a:spcPts val="600"/>
              </a:spcAft>
            </a:pPr>
            <a:r>
              <a:rPr sz="1100" b="1">
                <a:solidFill>
                  <a:srgbClr val="FF9800"/>
                </a:solidFill>
                <a:latin typeface="Consolas"/>
              </a:rPr>
              <a:t>Δ  </a:t>
            </a:r>
            <a:r>
              <a:rPr sz="1100">
                <a:solidFill>
                  <a:srgbClr val="E8ECF4"/>
                </a:solidFill>
                <a:latin typeface="Segoe UI"/>
              </a:rPr>
              <a:t>Error bracket — shows displacement error</a:t>
            </a:r>
          </a:p>
          <a:p>
            <a:pPr>
              <a:spcAft>
                <a:spcPts val="600"/>
              </a:spcAft>
            </a:pPr>
            <a:r>
              <a:rPr sz="1100" b="1">
                <a:solidFill>
                  <a:srgbClr val="FF9800"/>
                </a:solidFill>
                <a:latin typeface="Consolas"/>
              </a:rPr>
              <a:t>⚠  </a:t>
            </a:r>
            <a:r>
              <a:rPr sz="1100">
                <a:solidFill>
                  <a:srgbClr val="E8ECF4"/>
                </a:solidFill>
                <a:latin typeface="Segoe UI"/>
              </a:rPr>
              <a:t>Warning overlay — Step Loss / Motor Stall</a:t>
            </a:r>
          </a:p>
          <a:p>
            <a:pPr>
              <a:spcAft>
                <a:spcPts val="600"/>
              </a:spcAft>
            </a:pPr>
            <a:r>
              <a:rPr sz="1100" b="1">
                <a:solidFill>
                  <a:srgbClr val="00D4FF"/>
                </a:solidFill>
                <a:latin typeface="Consolas"/>
              </a:rPr>
              <a:t>↺/↻  </a:t>
            </a:r>
            <a:r>
              <a:rPr sz="1100">
                <a:solidFill>
                  <a:srgbClr val="E8ECF4"/>
                </a:solidFill>
                <a:latin typeface="Segoe UI"/>
              </a:rPr>
              <a:t>Rotation direction indicator</a:t>
            </a:r>
          </a:p>
        </p:txBody>
      </p:sp>
      <p:sp>
        <p:nvSpPr>
          <p:cNvPr id="11" name="Rounded Rectangle 10"/>
          <p:cNvSpPr/>
          <p:nvPr/>
        </p:nvSpPr>
        <p:spPr>
          <a:xfrm>
            <a:off x="8503920" y="1005840"/>
            <a:ext cx="3291840" cy="548640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0" y="1097280"/>
            <a:ext cx="2926080" cy="274320"/>
          </a:xfrm>
          <a:prstGeom prst="rect">
            <a:avLst/>
          </a:prstGeom>
          <a:noFill/>
        </p:spPr>
        <p:txBody>
          <a:bodyPr wrap="square">
            <a:spAutoFit/>
          </a:bodyPr>
          <a:lstStyle/>
          <a:p>
            <a:pPr algn="l">
              <a:defRPr sz="1400" b="1">
                <a:solidFill>
                  <a:srgbClr val="FF9800"/>
                </a:solidFill>
                <a:latin typeface="Segoe UI"/>
              </a:defRPr>
            </a:pPr>
            <a:r>
              <a:t>Data Display</a:t>
            </a:r>
          </a:p>
        </p:txBody>
      </p:sp>
      <p:sp>
        <p:nvSpPr>
          <p:cNvPr id="13" name="TextBox 12"/>
          <p:cNvSpPr txBox="1"/>
          <p:nvPr/>
        </p:nvSpPr>
        <p:spPr>
          <a:xfrm>
            <a:off x="8686800" y="1417320"/>
            <a:ext cx="2926080" cy="4572000"/>
          </a:xfrm>
          <a:prstGeom prst="rect">
            <a:avLst/>
          </a:prstGeom>
          <a:noFill/>
        </p:spPr>
        <p:txBody>
          <a:bodyPr wrap="square">
            <a:spAutoFit/>
          </a:bodyPr>
          <a:lstStyle/>
          <a:p>
            <a:pPr>
              <a:spcAft>
                <a:spcPts val="600"/>
              </a:spcAft>
            </a:pPr>
            <a:r>
              <a:rPr sz="1000" b="1">
                <a:solidFill>
                  <a:srgbClr val="00D4FF"/>
                </a:solidFill>
                <a:latin typeface="Consolas"/>
              </a:rPr>
              <a:t>  </a:t>
            </a:r>
            <a:r>
              <a:rPr sz="1000">
                <a:solidFill>
                  <a:srgbClr val="E8ECF4"/>
                </a:solidFill>
                <a:latin typeface="Segoe UI"/>
              </a:rPr>
              <a:t>DISPLACEMENT Section:</a:t>
            </a:r>
          </a:p>
          <a:p>
            <a:pPr>
              <a:spcAft>
                <a:spcPts val="600"/>
              </a:spcAft>
            </a:pPr>
            <a:r>
              <a:rPr sz="1000" b="1">
                <a:solidFill>
                  <a:srgbClr val="00E676"/>
                </a:solidFill>
                <a:latin typeface="Consolas"/>
              </a:rPr>
              <a:t>  </a:t>
            </a:r>
            <a:r>
              <a:rPr sz="1000">
                <a:solidFill>
                  <a:srgbClr val="E8ECF4"/>
                </a:solidFill>
                <a:latin typeface="Segoe UI"/>
              </a:rPr>
              <a:t>  Expected (mm) — green</a:t>
            </a:r>
          </a:p>
          <a:p>
            <a:pPr>
              <a:spcAft>
                <a:spcPts val="600"/>
              </a:spcAft>
            </a:pPr>
            <a:r>
              <a:rPr sz="1000" b="1">
                <a:solidFill>
                  <a:srgbClr val="FF4060"/>
                </a:solidFill>
                <a:latin typeface="Consolas"/>
              </a:rPr>
              <a:t>  </a:t>
            </a:r>
            <a:r>
              <a:rPr sz="1000">
                <a:solidFill>
                  <a:srgbClr val="E8ECF4"/>
                </a:solidFill>
                <a:latin typeface="Segoe UI"/>
              </a:rPr>
              <a:t>  Actual (mm) — red</a:t>
            </a:r>
          </a:p>
          <a:p>
            <a:pPr>
              <a:spcAft>
                <a:spcPts val="600"/>
              </a:spcAft>
            </a:pPr>
            <a:r>
              <a:rPr sz="1000" b="1">
                <a:solidFill>
                  <a:srgbClr val="FF9800"/>
                </a:solidFill>
                <a:latin typeface="Consolas"/>
              </a:rPr>
              <a:t>  </a:t>
            </a:r>
            <a:r>
              <a:rPr sz="1000">
                <a:solidFill>
                  <a:srgbClr val="E8ECF4"/>
                </a:solidFill>
                <a:latin typeface="Segoe UI"/>
              </a:rPr>
              <a:t>  Error (mm) — orange</a:t>
            </a:r>
          </a:p>
          <a:p>
            <a:pPr>
              <a:spcAft>
                <a:spcPts val="600"/>
              </a:spcAft>
            </a:pPr>
            <a:r>
              <a:rPr sz="1000" b="1">
                <a:solidFill>
                  <a:srgbClr val="8B95A8"/>
                </a:solidFill>
                <a:latin typeface="Consolas"/>
              </a:rPr>
              <a:t>  </a:t>
            </a:r>
            <a:r>
              <a:rPr sz="1000">
                <a:solidFill>
                  <a:srgbClr val="E8ECF4"/>
                </a:solidFill>
                <a:latin typeface="Segoe UI"/>
              </a:rPr>
              <a:t/>
            </a:r>
          </a:p>
          <a:p>
            <a:pPr>
              <a:spcAft>
                <a:spcPts val="600"/>
              </a:spcAft>
            </a:pPr>
            <a:r>
              <a:rPr sz="1000" b="1">
                <a:solidFill>
                  <a:srgbClr val="00D4FF"/>
                </a:solidFill>
                <a:latin typeface="Consolas"/>
              </a:rPr>
              <a:t>  </a:t>
            </a:r>
            <a:r>
              <a:rPr sz="1000">
                <a:solidFill>
                  <a:srgbClr val="E8ECF4"/>
                </a:solidFill>
                <a:latin typeface="Segoe UI"/>
              </a:rPr>
              <a:t>STEP ANALYSIS:</a:t>
            </a:r>
          </a:p>
          <a:p>
            <a:pPr>
              <a:spcAft>
                <a:spcPts val="600"/>
              </a:spcAft>
            </a:pPr>
            <a:r>
              <a:rPr sz="1000" b="1">
                <a:solidFill>
                  <a:srgbClr val="E8ECF4"/>
                </a:solidFill>
                <a:latin typeface="Consolas"/>
              </a:rPr>
              <a:t>  </a:t>
            </a:r>
            <a:r>
              <a:rPr sz="1000">
                <a:solidFill>
                  <a:srgbClr val="E8ECF4"/>
                </a:solidFill>
                <a:latin typeface="Segoe UI"/>
              </a:rPr>
              <a:t>  Commanded steps</a:t>
            </a:r>
          </a:p>
          <a:p>
            <a:pPr>
              <a:spcAft>
                <a:spcPts val="600"/>
              </a:spcAft>
            </a:pPr>
            <a:r>
              <a:rPr sz="1000" b="1">
                <a:solidFill>
                  <a:srgbClr val="E8ECF4"/>
                </a:solidFill>
                <a:latin typeface="Consolas"/>
              </a:rPr>
              <a:t>  </a:t>
            </a:r>
            <a:r>
              <a:rPr sz="1000">
                <a:solidFill>
                  <a:srgbClr val="E8ECF4"/>
                </a:solidFill>
                <a:latin typeface="Segoe UI"/>
              </a:rPr>
              <a:t>  Achieved steps</a:t>
            </a:r>
          </a:p>
          <a:p>
            <a:pPr>
              <a:spcAft>
                <a:spcPts val="600"/>
              </a:spcAft>
            </a:pPr>
            <a:r>
              <a:rPr sz="1000" b="1">
                <a:solidFill>
                  <a:srgbClr val="FF4060"/>
                </a:solidFill>
                <a:latin typeface="Consolas"/>
              </a:rPr>
              <a:t>  </a:t>
            </a:r>
            <a:r>
              <a:rPr sz="1000">
                <a:solidFill>
                  <a:srgbClr val="E8ECF4"/>
                </a:solidFill>
                <a:latin typeface="Segoe UI"/>
              </a:rPr>
              <a:t>  Missed steps — red</a:t>
            </a:r>
          </a:p>
          <a:p>
            <a:pPr>
              <a:spcAft>
                <a:spcPts val="600"/>
              </a:spcAft>
            </a:pPr>
            <a:r>
              <a:rPr sz="1000" b="1">
                <a:solidFill>
                  <a:srgbClr val="8B95A8"/>
                </a:solidFill>
                <a:latin typeface="Consolas"/>
              </a:rPr>
              <a:t>  </a:t>
            </a:r>
            <a:r>
              <a:rPr sz="1000">
                <a:solidFill>
                  <a:srgbClr val="E8ECF4"/>
                </a:solidFill>
                <a:latin typeface="Segoe UI"/>
              </a:rPr>
              <a:t/>
            </a:r>
          </a:p>
          <a:p>
            <a:pPr>
              <a:spcAft>
                <a:spcPts val="600"/>
              </a:spcAft>
            </a:pPr>
            <a:r>
              <a:rPr sz="1000" b="1">
                <a:solidFill>
                  <a:srgbClr val="00D4FF"/>
                </a:solidFill>
                <a:latin typeface="Consolas"/>
              </a:rPr>
              <a:t>  </a:t>
            </a:r>
            <a:r>
              <a:rPr sz="1000">
                <a:solidFill>
                  <a:srgbClr val="E8ECF4"/>
                </a:solidFill>
                <a:latin typeface="Segoe UI"/>
              </a:rPr>
              <a:t>MOTOR STATUS:</a:t>
            </a:r>
          </a:p>
          <a:p>
            <a:pPr>
              <a:spcAft>
                <a:spcPts val="600"/>
              </a:spcAft>
            </a:pPr>
            <a:r>
              <a:rPr sz="1000" b="1">
                <a:solidFill>
                  <a:srgbClr val="E8ECF4"/>
                </a:solidFill>
                <a:latin typeface="Consolas"/>
              </a:rPr>
              <a:t>  </a:t>
            </a:r>
            <a:r>
              <a:rPr sz="1000">
                <a:solidFill>
                  <a:srgbClr val="E8ECF4"/>
                </a:solidFill>
                <a:latin typeface="Segoe UI"/>
              </a:rPr>
              <a:t>  Current RPM</a:t>
            </a:r>
          </a:p>
          <a:p>
            <a:pPr>
              <a:spcAft>
                <a:spcPts val="600"/>
              </a:spcAft>
            </a:pPr>
            <a:r>
              <a:rPr sz="1000" b="1">
                <a:solidFill>
                  <a:srgbClr val="E8ECF4"/>
                </a:solidFill>
                <a:latin typeface="Consolas"/>
              </a:rPr>
              <a:t>  </a:t>
            </a:r>
            <a:r>
              <a:rPr sz="1000">
                <a:solidFill>
                  <a:srgbClr val="E8ECF4"/>
                </a:solidFill>
                <a:latin typeface="Segoe UI"/>
              </a:rPr>
              <a:t>  Direction (CCW/CW)</a:t>
            </a:r>
          </a:p>
          <a:p>
            <a:pPr>
              <a:spcAft>
                <a:spcPts val="600"/>
              </a:spcAft>
            </a:pPr>
            <a:r>
              <a:rPr sz="1000" b="1">
                <a:solidFill>
                  <a:srgbClr val="E8ECF4"/>
                </a:solidFill>
                <a:latin typeface="Consolas"/>
              </a:rPr>
              <a:t>  </a:t>
            </a:r>
            <a:r>
              <a:rPr sz="1000">
                <a:solidFill>
                  <a:srgbClr val="E8ECF4"/>
                </a:solidFill>
                <a:latin typeface="Segoe UI"/>
              </a:rPr>
              <a:t>  Progress %</a:t>
            </a:r>
          </a:p>
          <a:p>
            <a:pPr>
              <a:spcAft>
                <a:spcPts val="600"/>
              </a:spcAft>
            </a:pPr>
            <a:r>
              <a:rPr sz="1000" b="1">
                <a:solidFill>
                  <a:srgbClr val="8B95A8"/>
                </a:solidFill>
                <a:latin typeface="Consolas"/>
              </a:rPr>
              <a:t>  </a:t>
            </a:r>
            <a:r>
              <a:rPr sz="1000">
                <a:solidFill>
                  <a:srgbClr val="E8ECF4"/>
                </a:solidFill>
                <a:latin typeface="Segoe UI"/>
              </a:rPr>
              <a:t/>
            </a:r>
          </a:p>
          <a:p>
            <a:pPr>
              <a:spcAft>
                <a:spcPts val="600"/>
              </a:spcAft>
            </a:pPr>
            <a:r>
              <a:rPr sz="1000" b="1">
                <a:solidFill>
                  <a:srgbClr val="00D4FF"/>
                </a:solidFill>
                <a:latin typeface="Consolas"/>
              </a:rPr>
              <a:t>  </a:t>
            </a:r>
            <a:r>
              <a:rPr sz="1000">
                <a:solidFill>
                  <a:srgbClr val="E8ECF4"/>
                </a:solidFill>
                <a:latin typeface="Segoe UI"/>
              </a:rPr>
              <a:t>GRAPH: Load vs Step Error</a:t>
            </a:r>
          </a:p>
          <a:p>
            <a:pPr>
              <a:spcAft>
                <a:spcPts val="600"/>
              </a:spcAft>
            </a:pPr>
            <a:r>
              <a:rPr sz="1000" b="1">
                <a:solidFill>
                  <a:srgbClr val="00D4FF"/>
                </a:solidFill>
                <a:latin typeface="Consolas"/>
              </a:rPr>
              <a:t>  </a:t>
            </a:r>
            <a:r>
              <a:rPr sz="1000">
                <a:solidFill>
                  <a:srgbClr val="E8ECF4"/>
                </a:solidFill>
                <a:latin typeface="Segoe UI"/>
              </a:rPr>
              <a:t>DATA LOG: Event history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E17"/>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48640"/>
          </a:xfrm>
          <a:prstGeom prst="rect">
            <a:avLst/>
          </a:prstGeom>
          <a:noFill/>
        </p:spPr>
        <p:txBody>
          <a:bodyPr wrap="square">
            <a:spAutoFit/>
          </a:bodyPr>
          <a:lstStyle/>
          <a:p>
            <a:pPr algn="l">
              <a:defRPr sz="2400" b="1">
                <a:solidFill>
                  <a:srgbClr val="00D4FF"/>
                </a:solidFill>
                <a:latin typeface="Segoe UI"/>
              </a:defRPr>
            </a:pPr>
            <a:r>
              <a:t>8. Step-by-Step Operating Guide</a:t>
            </a:r>
          </a:p>
        </p:txBody>
      </p:sp>
      <p:sp>
        <p:nvSpPr>
          <p:cNvPr id="4" name="TextBox 3"/>
          <p:cNvSpPr txBox="1"/>
          <p:nvPr/>
        </p:nvSpPr>
        <p:spPr>
          <a:xfrm>
            <a:off x="457200" y="502920"/>
            <a:ext cx="9144000" cy="320040"/>
          </a:xfrm>
          <a:prstGeom prst="rect">
            <a:avLst/>
          </a:prstGeom>
          <a:noFill/>
        </p:spPr>
        <p:txBody>
          <a:bodyPr wrap="square">
            <a:spAutoFit/>
          </a:bodyPr>
          <a:lstStyle/>
          <a:p>
            <a:pPr algn="l">
              <a:defRPr sz="1100" b="0">
                <a:solidFill>
                  <a:srgbClr val="5A6478"/>
                </a:solidFill>
                <a:latin typeface="Segoe UI"/>
              </a:defRPr>
            </a:pPr>
            <a:r>
              <a:t>How to run the simulation experiment</a:t>
            </a:r>
          </a:p>
        </p:txBody>
      </p:sp>
      <p:sp>
        <p:nvSpPr>
          <p:cNvPr id="5" name="Rounded Rectangle 4"/>
          <p:cNvSpPr/>
          <p:nvPr/>
        </p:nvSpPr>
        <p:spPr>
          <a:xfrm>
            <a:off x="457200" y="1005840"/>
            <a:ext cx="3566160" cy="265176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97280"/>
            <a:ext cx="914400" cy="320040"/>
          </a:xfrm>
          <a:prstGeom prst="roundRect">
            <a:avLst/>
          </a:prstGeom>
          <a:solidFill>
            <a:srgbClr val="1A2336"/>
          </a:solidFill>
          <a:ln w="12700">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115568"/>
            <a:ext cx="914400" cy="274320"/>
          </a:xfrm>
          <a:prstGeom prst="rect">
            <a:avLst/>
          </a:prstGeom>
          <a:noFill/>
        </p:spPr>
        <p:txBody>
          <a:bodyPr wrap="square">
            <a:spAutoFit/>
          </a:bodyPr>
          <a:lstStyle/>
          <a:p>
            <a:pPr algn="ctr">
              <a:defRPr sz="1000" b="1">
                <a:solidFill>
                  <a:srgbClr val="00D4FF"/>
                </a:solidFill>
                <a:latin typeface="Consolas"/>
              </a:defRPr>
            </a:pPr>
            <a:r>
              <a:t>Step 1</a:t>
            </a:r>
          </a:p>
        </p:txBody>
      </p:sp>
      <p:sp>
        <p:nvSpPr>
          <p:cNvPr id="8" name="TextBox 7"/>
          <p:cNvSpPr txBox="1"/>
          <p:nvPr/>
        </p:nvSpPr>
        <p:spPr>
          <a:xfrm>
            <a:off x="1554480" y="1115568"/>
            <a:ext cx="2286000" cy="274320"/>
          </a:xfrm>
          <a:prstGeom prst="rect">
            <a:avLst/>
          </a:prstGeom>
          <a:noFill/>
        </p:spPr>
        <p:txBody>
          <a:bodyPr wrap="square">
            <a:spAutoFit/>
          </a:bodyPr>
          <a:lstStyle/>
          <a:p>
            <a:pPr algn="l">
              <a:defRPr sz="1300" b="1">
                <a:solidFill>
                  <a:srgbClr val="E8ECF4"/>
                </a:solidFill>
                <a:latin typeface="Segoe UI"/>
              </a:defRPr>
            </a:pPr>
            <a:r>
              <a:t>Launch the Application</a:t>
            </a:r>
          </a:p>
        </p:txBody>
      </p:sp>
      <p:sp>
        <p:nvSpPr>
          <p:cNvPr id="9" name="TextBox 8"/>
          <p:cNvSpPr txBox="1"/>
          <p:nvPr/>
        </p:nvSpPr>
        <p:spPr>
          <a:xfrm>
            <a:off x="594360" y="1508760"/>
            <a:ext cx="3291840" cy="2011680"/>
          </a:xfrm>
          <a:prstGeom prst="rect">
            <a:avLst/>
          </a:prstGeom>
          <a:noFill/>
        </p:spPr>
        <p:txBody>
          <a:bodyPr wrap="square">
            <a:spAutoFit/>
          </a:bodyPr>
          <a:lstStyle/>
          <a:p>
            <a:pPr algn="l">
              <a:defRPr sz="1100" b="0">
                <a:solidFill>
                  <a:srgbClr val="8B95A8"/>
                </a:solidFill>
                <a:latin typeface="Segoe UI"/>
              </a:defRPr>
            </a:pPr>
            <a:r>
              <a:t>Run: python stepper_simulation.py</a:t>
            </a:r>
            <a:br/>
            <a:r>
              <a:t>The app opens maximized with dark engineering theme.</a:t>
            </a:r>
          </a:p>
        </p:txBody>
      </p:sp>
      <p:sp>
        <p:nvSpPr>
          <p:cNvPr id="10" name="Rounded Rectangle 9"/>
          <p:cNvSpPr/>
          <p:nvPr/>
        </p:nvSpPr>
        <p:spPr>
          <a:xfrm>
            <a:off x="4297680" y="1005840"/>
            <a:ext cx="3566160" cy="265176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89120" y="1097280"/>
            <a:ext cx="914400" cy="320040"/>
          </a:xfrm>
          <a:prstGeom prst="roundRect">
            <a:avLst/>
          </a:prstGeom>
          <a:solidFill>
            <a:srgbClr val="1A2336"/>
          </a:solidFill>
          <a:ln w="1270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1115568"/>
            <a:ext cx="914400" cy="274320"/>
          </a:xfrm>
          <a:prstGeom prst="rect">
            <a:avLst/>
          </a:prstGeom>
          <a:noFill/>
        </p:spPr>
        <p:txBody>
          <a:bodyPr wrap="square">
            <a:spAutoFit/>
          </a:bodyPr>
          <a:lstStyle/>
          <a:p>
            <a:pPr algn="ctr">
              <a:defRPr sz="1000" b="1">
                <a:solidFill>
                  <a:srgbClr val="00E676"/>
                </a:solidFill>
                <a:latin typeface="Consolas"/>
              </a:defRPr>
            </a:pPr>
            <a:r>
              <a:t>Step 2</a:t>
            </a:r>
          </a:p>
        </p:txBody>
      </p:sp>
      <p:sp>
        <p:nvSpPr>
          <p:cNvPr id="13" name="TextBox 12"/>
          <p:cNvSpPr txBox="1"/>
          <p:nvPr/>
        </p:nvSpPr>
        <p:spPr>
          <a:xfrm>
            <a:off x="5394960" y="1115568"/>
            <a:ext cx="2286000" cy="274320"/>
          </a:xfrm>
          <a:prstGeom prst="rect">
            <a:avLst/>
          </a:prstGeom>
          <a:noFill/>
        </p:spPr>
        <p:txBody>
          <a:bodyPr wrap="square">
            <a:spAutoFit/>
          </a:bodyPr>
          <a:lstStyle/>
          <a:p>
            <a:pPr algn="l">
              <a:defRPr sz="1300" b="1">
                <a:solidFill>
                  <a:srgbClr val="E8ECF4"/>
                </a:solidFill>
                <a:latin typeface="Segoe UI"/>
              </a:defRPr>
            </a:pPr>
            <a:r>
              <a:t>Set Parameters</a:t>
            </a:r>
          </a:p>
        </p:txBody>
      </p:sp>
      <p:sp>
        <p:nvSpPr>
          <p:cNvPr id="14" name="TextBox 13"/>
          <p:cNvSpPr txBox="1"/>
          <p:nvPr/>
        </p:nvSpPr>
        <p:spPr>
          <a:xfrm>
            <a:off x="4434840" y="1508760"/>
            <a:ext cx="3291840" cy="2011680"/>
          </a:xfrm>
          <a:prstGeom prst="rect">
            <a:avLst/>
          </a:prstGeom>
          <a:noFill/>
        </p:spPr>
        <p:txBody>
          <a:bodyPr wrap="square">
            <a:spAutoFit/>
          </a:bodyPr>
          <a:lstStyle/>
          <a:p>
            <a:pPr algn="l">
              <a:defRPr sz="1100" b="0">
                <a:solidFill>
                  <a:srgbClr val="8B95A8"/>
                </a:solidFill>
                <a:latin typeface="Segoe UI"/>
              </a:defRPr>
            </a:pPr>
            <a:r>
              <a:t>• Adjust Speed slider (recommended: 60–120 RPM)</a:t>
            </a:r>
            <a:br/>
            <a:r>
              <a:t>• Set Load slider (start at 0 kg)</a:t>
            </a:r>
            <a:br/>
            <a:r>
              <a:t>• Enter commanded steps (e.g., 1000)</a:t>
            </a:r>
          </a:p>
        </p:txBody>
      </p:sp>
      <p:sp>
        <p:nvSpPr>
          <p:cNvPr id="15" name="Rounded Rectangle 14"/>
          <p:cNvSpPr/>
          <p:nvPr/>
        </p:nvSpPr>
        <p:spPr>
          <a:xfrm>
            <a:off x="8138160" y="1005840"/>
            <a:ext cx="3566160" cy="265176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0" y="1097280"/>
            <a:ext cx="914400" cy="320040"/>
          </a:xfrm>
          <a:prstGeom prst="roundRect">
            <a:avLst/>
          </a:prstGeom>
          <a:solidFill>
            <a:srgbClr val="1A2336"/>
          </a:solidFill>
          <a:ln w="12700">
            <a:solidFill>
              <a:srgbClr val="FF9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1115568"/>
            <a:ext cx="914400" cy="274320"/>
          </a:xfrm>
          <a:prstGeom prst="rect">
            <a:avLst/>
          </a:prstGeom>
          <a:noFill/>
        </p:spPr>
        <p:txBody>
          <a:bodyPr wrap="square">
            <a:spAutoFit/>
          </a:bodyPr>
          <a:lstStyle/>
          <a:p>
            <a:pPr algn="ctr">
              <a:defRPr sz="1000" b="1">
                <a:solidFill>
                  <a:srgbClr val="FF9800"/>
                </a:solidFill>
                <a:latin typeface="Consolas"/>
              </a:defRPr>
            </a:pPr>
            <a:r>
              <a:t>Step 3</a:t>
            </a:r>
          </a:p>
        </p:txBody>
      </p:sp>
      <p:sp>
        <p:nvSpPr>
          <p:cNvPr id="18" name="TextBox 17"/>
          <p:cNvSpPr txBox="1"/>
          <p:nvPr/>
        </p:nvSpPr>
        <p:spPr>
          <a:xfrm>
            <a:off x="9235440" y="1115568"/>
            <a:ext cx="2286000" cy="274320"/>
          </a:xfrm>
          <a:prstGeom prst="rect">
            <a:avLst/>
          </a:prstGeom>
          <a:noFill/>
        </p:spPr>
        <p:txBody>
          <a:bodyPr wrap="square">
            <a:spAutoFit/>
          </a:bodyPr>
          <a:lstStyle/>
          <a:p>
            <a:pPr algn="l">
              <a:defRPr sz="1300" b="1">
                <a:solidFill>
                  <a:srgbClr val="E8ECF4"/>
                </a:solidFill>
                <a:latin typeface="Segoe UI"/>
              </a:defRPr>
            </a:pPr>
            <a:r>
              <a:t>Choose Direction</a:t>
            </a:r>
          </a:p>
        </p:txBody>
      </p:sp>
      <p:sp>
        <p:nvSpPr>
          <p:cNvPr id="19" name="TextBox 18"/>
          <p:cNvSpPr txBox="1"/>
          <p:nvPr/>
        </p:nvSpPr>
        <p:spPr>
          <a:xfrm>
            <a:off x="8275320" y="1508760"/>
            <a:ext cx="3291840" cy="2011680"/>
          </a:xfrm>
          <a:prstGeom prst="rect">
            <a:avLst/>
          </a:prstGeom>
          <a:noFill/>
        </p:spPr>
        <p:txBody>
          <a:bodyPr wrap="square">
            <a:spAutoFit/>
          </a:bodyPr>
          <a:lstStyle/>
          <a:p>
            <a:pPr algn="l">
              <a:defRPr sz="1100" b="0">
                <a:solidFill>
                  <a:srgbClr val="8B95A8"/>
                </a:solidFill>
                <a:latin typeface="Segoe UI"/>
              </a:defRPr>
            </a:pPr>
            <a:r>
              <a:t>• Click LIFT (CCW) to lift weight upward</a:t>
            </a:r>
            <a:br/>
            <a:r>
              <a:t>• Click LOWER (CW) to lower weight down</a:t>
            </a:r>
          </a:p>
        </p:txBody>
      </p:sp>
      <p:sp>
        <p:nvSpPr>
          <p:cNvPr id="20" name="Rounded Rectangle 19"/>
          <p:cNvSpPr/>
          <p:nvPr/>
        </p:nvSpPr>
        <p:spPr>
          <a:xfrm>
            <a:off x="457200" y="3931920"/>
            <a:ext cx="3566160" cy="265176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48640" y="4023360"/>
            <a:ext cx="914400" cy="320040"/>
          </a:xfrm>
          <a:prstGeom prst="roundRect">
            <a:avLst/>
          </a:prstGeom>
          <a:solidFill>
            <a:srgbClr val="1A2336"/>
          </a:solidFill>
          <a:ln w="12700">
            <a:solidFill>
              <a:srgbClr val="00E6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041648"/>
            <a:ext cx="914400" cy="274320"/>
          </a:xfrm>
          <a:prstGeom prst="rect">
            <a:avLst/>
          </a:prstGeom>
          <a:noFill/>
        </p:spPr>
        <p:txBody>
          <a:bodyPr wrap="square">
            <a:spAutoFit/>
          </a:bodyPr>
          <a:lstStyle/>
          <a:p>
            <a:pPr algn="ctr">
              <a:defRPr sz="1000" b="1">
                <a:solidFill>
                  <a:srgbClr val="00E676"/>
                </a:solidFill>
                <a:latin typeface="Consolas"/>
              </a:defRPr>
            </a:pPr>
            <a:r>
              <a:t>Step 4</a:t>
            </a:r>
          </a:p>
        </p:txBody>
      </p:sp>
      <p:sp>
        <p:nvSpPr>
          <p:cNvPr id="23" name="TextBox 22"/>
          <p:cNvSpPr txBox="1"/>
          <p:nvPr/>
        </p:nvSpPr>
        <p:spPr>
          <a:xfrm>
            <a:off x="1554480" y="4041648"/>
            <a:ext cx="2286000" cy="274320"/>
          </a:xfrm>
          <a:prstGeom prst="rect">
            <a:avLst/>
          </a:prstGeom>
          <a:noFill/>
        </p:spPr>
        <p:txBody>
          <a:bodyPr wrap="square">
            <a:spAutoFit/>
          </a:bodyPr>
          <a:lstStyle/>
          <a:p>
            <a:pPr algn="l">
              <a:defRPr sz="1300" b="1">
                <a:solidFill>
                  <a:srgbClr val="E8ECF4"/>
                </a:solidFill>
                <a:latin typeface="Segoe UI"/>
              </a:defRPr>
            </a:pPr>
            <a:r>
              <a:t>Run Simulation</a:t>
            </a:r>
          </a:p>
        </p:txBody>
      </p:sp>
      <p:sp>
        <p:nvSpPr>
          <p:cNvPr id="24" name="TextBox 23"/>
          <p:cNvSpPr txBox="1"/>
          <p:nvPr/>
        </p:nvSpPr>
        <p:spPr>
          <a:xfrm>
            <a:off x="594360" y="4434840"/>
            <a:ext cx="3291840" cy="2011680"/>
          </a:xfrm>
          <a:prstGeom prst="rect">
            <a:avLst/>
          </a:prstGeom>
          <a:noFill/>
        </p:spPr>
        <p:txBody>
          <a:bodyPr wrap="square">
            <a:spAutoFit/>
          </a:bodyPr>
          <a:lstStyle/>
          <a:p>
            <a:pPr algn="l">
              <a:defRPr sz="1100" b="0">
                <a:solidFill>
                  <a:srgbClr val="8B95A8"/>
                </a:solidFill>
                <a:latin typeface="Segoe UI"/>
              </a:defRPr>
            </a:pPr>
            <a:r>
              <a:t>• Click ▶ Start to begin</a:t>
            </a:r>
            <a:br/>
            <a:r>
              <a:t>• Watch pulley rotate &amp; weight move</a:t>
            </a:r>
            <a:br/>
            <a:r>
              <a:t>• Observe green/red markers on ruler</a:t>
            </a:r>
          </a:p>
        </p:txBody>
      </p:sp>
      <p:sp>
        <p:nvSpPr>
          <p:cNvPr id="25" name="Rounded Rectangle 24"/>
          <p:cNvSpPr/>
          <p:nvPr/>
        </p:nvSpPr>
        <p:spPr>
          <a:xfrm>
            <a:off x="4297680" y="3931920"/>
            <a:ext cx="3566160" cy="265176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389120" y="4023360"/>
            <a:ext cx="914400" cy="320040"/>
          </a:xfrm>
          <a:prstGeom prst="roundRect">
            <a:avLst/>
          </a:prstGeom>
          <a:solidFill>
            <a:srgbClr val="1A2336"/>
          </a:solidFill>
          <a:ln w="12700">
            <a:solidFill>
              <a:srgbClr val="FF4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89120" y="4041648"/>
            <a:ext cx="914400" cy="274320"/>
          </a:xfrm>
          <a:prstGeom prst="rect">
            <a:avLst/>
          </a:prstGeom>
          <a:noFill/>
        </p:spPr>
        <p:txBody>
          <a:bodyPr wrap="square">
            <a:spAutoFit/>
          </a:bodyPr>
          <a:lstStyle/>
          <a:p>
            <a:pPr algn="ctr">
              <a:defRPr sz="1000" b="1">
                <a:solidFill>
                  <a:srgbClr val="FF4060"/>
                </a:solidFill>
                <a:latin typeface="Consolas"/>
              </a:defRPr>
            </a:pPr>
            <a:r>
              <a:t>Step 5</a:t>
            </a:r>
          </a:p>
        </p:txBody>
      </p:sp>
      <p:sp>
        <p:nvSpPr>
          <p:cNvPr id="28" name="TextBox 27"/>
          <p:cNvSpPr txBox="1"/>
          <p:nvPr/>
        </p:nvSpPr>
        <p:spPr>
          <a:xfrm>
            <a:off x="5394960" y="4041648"/>
            <a:ext cx="2286000" cy="274320"/>
          </a:xfrm>
          <a:prstGeom prst="rect">
            <a:avLst/>
          </a:prstGeom>
          <a:noFill/>
        </p:spPr>
        <p:txBody>
          <a:bodyPr wrap="square">
            <a:spAutoFit/>
          </a:bodyPr>
          <a:lstStyle/>
          <a:p>
            <a:pPr algn="l">
              <a:defRPr sz="1300" b="1">
                <a:solidFill>
                  <a:srgbClr val="E8ECF4"/>
                </a:solidFill>
                <a:latin typeface="Segoe UI"/>
              </a:defRPr>
            </a:pPr>
            <a:r>
              <a:t>Observe Step Loss</a:t>
            </a:r>
          </a:p>
        </p:txBody>
      </p:sp>
      <p:sp>
        <p:nvSpPr>
          <p:cNvPr id="29" name="TextBox 28"/>
          <p:cNvSpPr txBox="1"/>
          <p:nvPr/>
        </p:nvSpPr>
        <p:spPr>
          <a:xfrm>
            <a:off x="4434840" y="4434840"/>
            <a:ext cx="3291840" cy="2011680"/>
          </a:xfrm>
          <a:prstGeom prst="rect">
            <a:avLst/>
          </a:prstGeom>
          <a:noFill/>
        </p:spPr>
        <p:txBody>
          <a:bodyPr wrap="square">
            <a:spAutoFit/>
          </a:bodyPr>
          <a:lstStyle/>
          <a:p>
            <a:pPr algn="l">
              <a:defRPr sz="1100" b="0">
                <a:solidFill>
                  <a:srgbClr val="8B95A8"/>
                </a:solidFill>
                <a:latin typeface="Segoe UI"/>
              </a:defRPr>
            </a:pPr>
            <a:r>
              <a:t>• Increase load above 5.1 kg</a:t>
            </a:r>
            <a:br/>
            <a:r>
              <a:t>• Click Start again — markers diverge!</a:t>
            </a:r>
            <a:br/>
            <a:r>
              <a:t>• Check data panel for error values</a:t>
            </a:r>
          </a:p>
        </p:txBody>
      </p:sp>
      <p:sp>
        <p:nvSpPr>
          <p:cNvPr id="30" name="Rounded Rectangle 29"/>
          <p:cNvSpPr/>
          <p:nvPr/>
        </p:nvSpPr>
        <p:spPr>
          <a:xfrm>
            <a:off x="8138160" y="3931920"/>
            <a:ext cx="3566160" cy="265176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229600" y="4023360"/>
            <a:ext cx="914400" cy="320040"/>
          </a:xfrm>
          <a:prstGeom prst="roundRect">
            <a:avLst/>
          </a:prstGeom>
          <a:solidFill>
            <a:srgbClr val="1A2336"/>
          </a:solidFill>
          <a:ln w="12700">
            <a:solidFill>
              <a:srgbClr val="7B2F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0" y="4041648"/>
            <a:ext cx="914400" cy="274320"/>
          </a:xfrm>
          <a:prstGeom prst="rect">
            <a:avLst/>
          </a:prstGeom>
          <a:noFill/>
        </p:spPr>
        <p:txBody>
          <a:bodyPr wrap="square">
            <a:spAutoFit/>
          </a:bodyPr>
          <a:lstStyle/>
          <a:p>
            <a:pPr algn="ctr">
              <a:defRPr sz="1000" b="1">
                <a:solidFill>
                  <a:srgbClr val="7B2FF7"/>
                </a:solidFill>
                <a:latin typeface="Consolas"/>
              </a:defRPr>
            </a:pPr>
            <a:r>
              <a:t>Step 6</a:t>
            </a:r>
          </a:p>
        </p:txBody>
      </p:sp>
      <p:sp>
        <p:nvSpPr>
          <p:cNvPr id="33" name="TextBox 32"/>
          <p:cNvSpPr txBox="1"/>
          <p:nvPr/>
        </p:nvSpPr>
        <p:spPr>
          <a:xfrm>
            <a:off x="9235440" y="4041648"/>
            <a:ext cx="2286000" cy="274320"/>
          </a:xfrm>
          <a:prstGeom prst="rect">
            <a:avLst/>
          </a:prstGeom>
          <a:noFill/>
        </p:spPr>
        <p:txBody>
          <a:bodyPr wrap="square">
            <a:spAutoFit/>
          </a:bodyPr>
          <a:lstStyle/>
          <a:p>
            <a:pPr algn="l">
              <a:defRPr sz="1300" b="1">
                <a:solidFill>
                  <a:srgbClr val="E8ECF4"/>
                </a:solidFill>
                <a:latin typeface="Segoe UI"/>
              </a:defRPr>
            </a:pPr>
            <a:r>
              <a:t>Analyze Results</a:t>
            </a:r>
          </a:p>
        </p:txBody>
      </p:sp>
      <p:sp>
        <p:nvSpPr>
          <p:cNvPr id="34" name="TextBox 33"/>
          <p:cNvSpPr txBox="1"/>
          <p:nvPr/>
        </p:nvSpPr>
        <p:spPr>
          <a:xfrm>
            <a:off x="8275320" y="4434840"/>
            <a:ext cx="3291840" cy="2011680"/>
          </a:xfrm>
          <a:prstGeom prst="rect">
            <a:avLst/>
          </a:prstGeom>
          <a:noFill/>
        </p:spPr>
        <p:txBody>
          <a:bodyPr wrap="square">
            <a:spAutoFit/>
          </a:bodyPr>
          <a:lstStyle/>
          <a:p>
            <a:pPr algn="l">
              <a:defRPr sz="1100" b="0">
                <a:solidFill>
                  <a:srgbClr val="8B95A8"/>
                </a:solidFill>
                <a:latin typeface="Segoe UI"/>
              </a:defRPr>
            </a:pPr>
            <a:r>
              <a:t>• Compare Expected vs Actual displacement</a:t>
            </a:r>
            <a:br/>
            <a:r>
              <a:t>• Note: Steps Missed count</a:t>
            </a:r>
            <a:br/>
            <a:r>
              <a:t>• Review Load vs Error graph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E17"/>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48640"/>
          </a:xfrm>
          <a:prstGeom prst="rect">
            <a:avLst/>
          </a:prstGeom>
          <a:noFill/>
        </p:spPr>
        <p:txBody>
          <a:bodyPr wrap="square">
            <a:spAutoFit/>
          </a:bodyPr>
          <a:lstStyle/>
          <a:p>
            <a:pPr algn="l">
              <a:defRPr sz="2400" b="1">
                <a:solidFill>
                  <a:srgbClr val="00D4FF"/>
                </a:solidFill>
                <a:latin typeface="Segoe UI"/>
              </a:defRPr>
            </a:pPr>
            <a:r>
              <a:t>9. Experimental Observations</a:t>
            </a:r>
          </a:p>
        </p:txBody>
      </p:sp>
      <p:sp>
        <p:nvSpPr>
          <p:cNvPr id="4" name="TextBox 3"/>
          <p:cNvSpPr txBox="1"/>
          <p:nvPr/>
        </p:nvSpPr>
        <p:spPr>
          <a:xfrm>
            <a:off x="457200" y="502920"/>
            <a:ext cx="9144000" cy="320040"/>
          </a:xfrm>
          <a:prstGeom prst="rect">
            <a:avLst/>
          </a:prstGeom>
          <a:noFill/>
        </p:spPr>
        <p:txBody>
          <a:bodyPr wrap="square">
            <a:spAutoFit/>
          </a:bodyPr>
          <a:lstStyle/>
          <a:p>
            <a:pPr algn="l">
              <a:defRPr sz="1100" b="0">
                <a:solidFill>
                  <a:srgbClr val="5A6478"/>
                </a:solidFill>
                <a:latin typeface="Segoe UI"/>
              </a:defRPr>
            </a:pPr>
            <a:r>
              <a:t>Expected results from the simulation experiments</a:t>
            </a:r>
          </a:p>
        </p:txBody>
      </p:sp>
      <p:sp>
        <p:nvSpPr>
          <p:cNvPr id="5" name="Rounded Rectangle 4"/>
          <p:cNvSpPr/>
          <p:nvPr/>
        </p:nvSpPr>
        <p:spPr>
          <a:xfrm>
            <a:off x="457200" y="1005840"/>
            <a:ext cx="11247120" cy="411480"/>
          </a:xfrm>
          <a:prstGeom prst="roundRect">
            <a:avLst/>
          </a:prstGeom>
          <a:solidFill>
            <a:srgbClr val="2A3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33271"/>
            <a:ext cx="1097280" cy="365760"/>
          </a:xfrm>
          <a:prstGeom prst="rect">
            <a:avLst/>
          </a:prstGeom>
          <a:noFill/>
        </p:spPr>
        <p:txBody>
          <a:bodyPr wrap="square">
            <a:spAutoFit/>
          </a:bodyPr>
          <a:lstStyle/>
          <a:p>
            <a:pPr algn="ctr">
              <a:defRPr sz="1000" b="1">
                <a:solidFill>
                  <a:srgbClr val="00D4FF"/>
                </a:solidFill>
                <a:latin typeface="Consolas"/>
              </a:defRPr>
            </a:pPr>
            <a:r>
              <a:t>Load (kg)</a:t>
            </a:r>
          </a:p>
        </p:txBody>
      </p:sp>
      <p:sp>
        <p:nvSpPr>
          <p:cNvPr id="7" name="TextBox 6"/>
          <p:cNvSpPr txBox="1"/>
          <p:nvPr/>
        </p:nvSpPr>
        <p:spPr>
          <a:xfrm>
            <a:off x="1691640" y="1033271"/>
            <a:ext cx="1097280" cy="365760"/>
          </a:xfrm>
          <a:prstGeom prst="rect">
            <a:avLst/>
          </a:prstGeom>
          <a:noFill/>
        </p:spPr>
        <p:txBody>
          <a:bodyPr wrap="square">
            <a:spAutoFit/>
          </a:bodyPr>
          <a:lstStyle/>
          <a:p>
            <a:pPr algn="ctr">
              <a:defRPr sz="1000" b="1">
                <a:solidFill>
                  <a:srgbClr val="00D4FF"/>
                </a:solidFill>
                <a:latin typeface="Consolas"/>
              </a:defRPr>
            </a:pPr>
            <a:r>
              <a:t>T_req (Nm)</a:t>
            </a:r>
          </a:p>
        </p:txBody>
      </p:sp>
      <p:sp>
        <p:nvSpPr>
          <p:cNvPr id="8" name="TextBox 7"/>
          <p:cNvSpPr txBox="1"/>
          <p:nvPr/>
        </p:nvSpPr>
        <p:spPr>
          <a:xfrm>
            <a:off x="2880360" y="1033271"/>
            <a:ext cx="1097280" cy="365760"/>
          </a:xfrm>
          <a:prstGeom prst="rect">
            <a:avLst/>
          </a:prstGeom>
          <a:noFill/>
        </p:spPr>
        <p:txBody>
          <a:bodyPr wrap="square">
            <a:spAutoFit/>
          </a:bodyPr>
          <a:lstStyle/>
          <a:p>
            <a:pPr algn="ctr">
              <a:defRPr sz="1000" b="1">
                <a:solidFill>
                  <a:srgbClr val="00D4FF"/>
                </a:solidFill>
                <a:latin typeface="Consolas"/>
              </a:defRPr>
            </a:pPr>
            <a:r>
              <a:t>T_avail (Nm)</a:t>
            </a:r>
          </a:p>
        </p:txBody>
      </p:sp>
      <p:sp>
        <p:nvSpPr>
          <p:cNvPr id="9" name="TextBox 8"/>
          <p:cNvSpPr txBox="1"/>
          <p:nvPr/>
        </p:nvSpPr>
        <p:spPr>
          <a:xfrm>
            <a:off x="4069080" y="1033271"/>
            <a:ext cx="1188719" cy="365760"/>
          </a:xfrm>
          <a:prstGeom prst="rect">
            <a:avLst/>
          </a:prstGeom>
          <a:noFill/>
        </p:spPr>
        <p:txBody>
          <a:bodyPr wrap="square">
            <a:spAutoFit/>
          </a:bodyPr>
          <a:lstStyle/>
          <a:p>
            <a:pPr algn="ctr">
              <a:defRPr sz="1000" b="1">
                <a:solidFill>
                  <a:srgbClr val="00D4FF"/>
                </a:solidFill>
                <a:latin typeface="Consolas"/>
              </a:defRPr>
            </a:pPr>
            <a:r>
              <a:t>Status</a:t>
            </a:r>
          </a:p>
        </p:txBody>
      </p:sp>
      <p:sp>
        <p:nvSpPr>
          <p:cNvPr id="10" name="TextBox 9"/>
          <p:cNvSpPr txBox="1"/>
          <p:nvPr/>
        </p:nvSpPr>
        <p:spPr>
          <a:xfrm>
            <a:off x="5349240" y="1033271"/>
            <a:ext cx="1097280" cy="365760"/>
          </a:xfrm>
          <a:prstGeom prst="rect">
            <a:avLst/>
          </a:prstGeom>
          <a:noFill/>
        </p:spPr>
        <p:txBody>
          <a:bodyPr wrap="square">
            <a:spAutoFit/>
          </a:bodyPr>
          <a:lstStyle/>
          <a:p>
            <a:pPr algn="ctr">
              <a:defRPr sz="1000" b="1">
                <a:solidFill>
                  <a:srgbClr val="00D4FF"/>
                </a:solidFill>
                <a:latin typeface="Consolas"/>
              </a:defRPr>
            </a:pPr>
            <a:r>
              <a:t>Steps Cmd</a:t>
            </a:r>
          </a:p>
        </p:txBody>
      </p:sp>
      <p:sp>
        <p:nvSpPr>
          <p:cNvPr id="11" name="TextBox 10"/>
          <p:cNvSpPr txBox="1"/>
          <p:nvPr/>
        </p:nvSpPr>
        <p:spPr>
          <a:xfrm>
            <a:off x="6537960" y="1033271"/>
            <a:ext cx="1280160" cy="365760"/>
          </a:xfrm>
          <a:prstGeom prst="rect">
            <a:avLst/>
          </a:prstGeom>
          <a:noFill/>
        </p:spPr>
        <p:txBody>
          <a:bodyPr wrap="square">
            <a:spAutoFit/>
          </a:bodyPr>
          <a:lstStyle/>
          <a:p>
            <a:pPr algn="ctr">
              <a:defRPr sz="1000" b="1">
                <a:solidFill>
                  <a:srgbClr val="00D4FF"/>
                </a:solidFill>
                <a:latin typeface="Consolas"/>
              </a:defRPr>
            </a:pPr>
            <a:r>
              <a:t>Steps Actual</a:t>
            </a:r>
          </a:p>
        </p:txBody>
      </p:sp>
      <p:sp>
        <p:nvSpPr>
          <p:cNvPr id="12" name="TextBox 11"/>
          <p:cNvSpPr txBox="1"/>
          <p:nvPr/>
        </p:nvSpPr>
        <p:spPr>
          <a:xfrm>
            <a:off x="7909560" y="1033271"/>
            <a:ext cx="1005839" cy="365760"/>
          </a:xfrm>
          <a:prstGeom prst="rect">
            <a:avLst/>
          </a:prstGeom>
          <a:noFill/>
        </p:spPr>
        <p:txBody>
          <a:bodyPr wrap="square">
            <a:spAutoFit/>
          </a:bodyPr>
          <a:lstStyle/>
          <a:p>
            <a:pPr algn="ctr">
              <a:defRPr sz="1000" b="1">
                <a:solidFill>
                  <a:srgbClr val="00D4FF"/>
                </a:solidFill>
                <a:latin typeface="Consolas"/>
              </a:defRPr>
            </a:pPr>
            <a:r>
              <a:t>Missed</a:t>
            </a:r>
          </a:p>
        </p:txBody>
      </p:sp>
      <p:sp>
        <p:nvSpPr>
          <p:cNvPr id="13" name="TextBox 12"/>
          <p:cNvSpPr txBox="1"/>
          <p:nvPr/>
        </p:nvSpPr>
        <p:spPr>
          <a:xfrm>
            <a:off x="9006840" y="1033271"/>
            <a:ext cx="1737360" cy="365760"/>
          </a:xfrm>
          <a:prstGeom prst="rect">
            <a:avLst/>
          </a:prstGeom>
          <a:noFill/>
        </p:spPr>
        <p:txBody>
          <a:bodyPr wrap="square">
            <a:spAutoFit/>
          </a:bodyPr>
          <a:lstStyle/>
          <a:p>
            <a:pPr algn="ctr">
              <a:defRPr sz="1000" b="1">
                <a:solidFill>
                  <a:srgbClr val="00D4FF"/>
                </a:solidFill>
                <a:latin typeface="Consolas"/>
              </a:defRPr>
            </a:pPr>
            <a:r>
              <a:t>Error (mm)</a:t>
            </a:r>
          </a:p>
        </p:txBody>
      </p:sp>
      <p:sp>
        <p:nvSpPr>
          <p:cNvPr id="14" name="Rounded Rectangle 13"/>
          <p:cNvSpPr/>
          <p:nvPr/>
        </p:nvSpPr>
        <p:spPr>
          <a:xfrm>
            <a:off x="457200" y="1463040"/>
            <a:ext cx="11247120" cy="384048"/>
          </a:xfrm>
          <a:prstGeom prst="round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490472"/>
            <a:ext cx="1097280" cy="320040"/>
          </a:xfrm>
          <a:prstGeom prst="rect">
            <a:avLst/>
          </a:prstGeom>
          <a:noFill/>
        </p:spPr>
        <p:txBody>
          <a:bodyPr wrap="square">
            <a:spAutoFit/>
          </a:bodyPr>
          <a:lstStyle/>
          <a:p>
            <a:pPr algn="ctr">
              <a:defRPr sz="1000" b="0">
                <a:solidFill>
                  <a:srgbClr val="E8ECF4"/>
                </a:solidFill>
                <a:latin typeface="Consolas"/>
              </a:defRPr>
            </a:pPr>
            <a:r>
              <a:t>0.0</a:t>
            </a:r>
          </a:p>
        </p:txBody>
      </p:sp>
      <p:sp>
        <p:nvSpPr>
          <p:cNvPr id="16" name="TextBox 15"/>
          <p:cNvSpPr txBox="1"/>
          <p:nvPr/>
        </p:nvSpPr>
        <p:spPr>
          <a:xfrm>
            <a:off x="1691640" y="1490472"/>
            <a:ext cx="1097280" cy="320040"/>
          </a:xfrm>
          <a:prstGeom prst="rect">
            <a:avLst/>
          </a:prstGeom>
          <a:noFill/>
        </p:spPr>
        <p:txBody>
          <a:bodyPr wrap="square">
            <a:spAutoFit/>
          </a:bodyPr>
          <a:lstStyle/>
          <a:p>
            <a:pPr algn="ctr">
              <a:defRPr sz="1000" b="0">
                <a:solidFill>
                  <a:srgbClr val="E8ECF4"/>
                </a:solidFill>
                <a:latin typeface="Consolas"/>
              </a:defRPr>
            </a:pPr>
            <a:r>
              <a:t>0.000</a:t>
            </a:r>
          </a:p>
        </p:txBody>
      </p:sp>
      <p:sp>
        <p:nvSpPr>
          <p:cNvPr id="17" name="TextBox 16"/>
          <p:cNvSpPr txBox="1"/>
          <p:nvPr/>
        </p:nvSpPr>
        <p:spPr>
          <a:xfrm>
            <a:off x="2880360" y="1490472"/>
            <a:ext cx="1097280" cy="320040"/>
          </a:xfrm>
          <a:prstGeom prst="rect">
            <a:avLst/>
          </a:prstGeom>
          <a:noFill/>
        </p:spPr>
        <p:txBody>
          <a:bodyPr wrap="square">
            <a:spAutoFit/>
          </a:bodyPr>
          <a:lstStyle/>
          <a:p>
            <a:pPr algn="ctr">
              <a:defRPr sz="1000" b="0">
                <a:solidFill>
                  <a:srgbClr val="E8ECF4"/>
                </a:solidFill>
                <a:latin typeface="Consolas"/>
              </a:defRPr>
            </a:pPr>
            <a:r>
              <a:t>1.000</a:t>
            </a:r>
          </a:p>
        </p:txBody>
      </p:sp>
      <p:sp>
        <p:nvSpPr>
          <p:cNvPr id="18" name="TextBox 17"/>
          <p:cNvSpPr txBox="1"/>
          <p:nvPr/>
        </p:nvSpPr>
        <p:spPr>
          <a:xfrm>
            <a:off x="4069080" y="1490472"/>
            <a:ext cx="1188719" cy="320040"/>
          </a:xfrm>
          <a:prstGeom prst="rect">
            <a:avLst/>
          </a:prstGeom>
          <a:noFill/>
        </p:spPr>
        <p:txBody>
          <a:bodyPr wrap="square">
            <a:spAutoFit/>
          </a:bodyPr>
          <a:lstStyle/>
          <a:p>
            <a:pPr algn="ctr">
              <a:defRPr sz="1000" b="0">
                <a:solidFill>
                  <a:srgbClr val="00E676"/>
                </a:solidFill>
                <a:latin typeface="Consolas"/>
              </a:defRPr>
            </a:pPr>
            <a:r>
              <a:t>✓ Normal</a:t>
            </a:r>
          </a:p>
        </p:txBody>
      </p:sp>
      <p:sp>
        <p:nvSpPr>
          <p:cNvPr id="19" name="TextBox 18"/>
          <p:cNvSpPr txBox="1"/>
          <p:nvPr/>
        </p:nvSpPr>
        <p:spPr>
          <a:xfrm>
            <a:off x="5349240" y="1490472"/>
            <a:ext cx="1097280" cy="320040"/>
          </a:xfrm>
          <a:prstGeom prst="rect">
            <a:avLst/>
          </a:prstGeom>
          <a:noFill/>
        </p:spPr>
        <p:txBody>
          <a:bodyPr wrap="square">
            <a:spAutoFit/>
          </a:bodyPr>
          <a:lstStyle/>
          <a:p>
            <a:pPr algn="ctr">
              <a:defRPr sz="1000" b="0">
                <a:solidFill>
                  <a:srgbClr val="E8ECF4"/>
                </a:solidFill>
                <a:latin typeface="Consolas"/>
              </a:defRPr>
            </a:pPr>
            <a:r>
              <a:t>1000</a:t>
            </a:r>
          </a:p>
        </p:txBody>
      </p:sp>
      <p:sp>
        <p:nvSpPr>
          <p:cNvPr id="20" name="TextBox 19"/>
          <p:cNvSpPr txBox="1"/>
          <p:nvPr/>
        </p:nvSpPr>
        <p:spPr>
          <a:xfrm>
            <a:off x="6537960" y="1490472"/>
            <a:ext cx="1280160" cy="320040"/>
          </a:xfrm>
          <a:prstGeom prst="rect">
            <a:avLst/>
          </a:prstGeom>
          <a:noFill/>
        </p:spPr>
        <p:txBody>
          <a:bodyPr wrap="square">
            <a:spAutoFit/>
          </a:bodyPr>
          <a:lstStyle/>
          <a:p>
            <a:pPr algn="ctr">
              <a:defRPr sz="1000" b="0">
                <a:solidFill>
                  <a:srgbClr val="E8ECF4"/>
                </a:solidFill>
                <a:latin typeface="Consolas"/>
              </a:defRPr>
            </a:pPr>
            <a:r>
              <a:t>1000</a:t>
            </a:r>
          </a:p>
        </p:txBody>
      </p:sp>
      <p:sp>
        <p:nvSpPr>
          <p:cNvPr id="21" name="TextBox 20"/>
          <p:cNvSpPr txBox="1"/>
          <p:nvPr/>
        </p:nvSpPr>
        <p:spPr>
          <a:xfrm>
            <a:off x="7909560" y="1490472"/>
            <a:ext cx="1005839" cy="320040"/>
          </a:xfrm>
          <a:prstGeom prst="rect">
            <a:avLst/>
          </a:prstGeom>
          <a:noFill/>
        </p:spPr>
        <p:txBody>
          <a:bodyPr wrap="square">
            <a:spAutoFit/>
          </a:bodyPr>
          <a:lstStyle/>
          <a:p>
            <a:pPr algn="ctr">
              <a:defRPr sz="1000" b="0">
                <a:solidFill>
                  <a:srgbClr val="E8ECF4"/>
                </a:solidFill>
                <a:latin typeface="Consolas"/>
              </a:defRPr>
            </a:pPr>
            <a:r>
              <a:t>0</a:t>
            </a:r>
          </a:p>
        </p:txBody>
      </p:sp>
      <p:sp>
        <p:nvSpPr>
          <p:cNvPr id="22" name="TextBox 21"/>
          <p:cNvSpPr txBox="1"/>
          <p:nvPr/>
        </p:nvSpPr>
        <p:spPr>
          <a:xfrm>
            <a:off x="9006840" y="1490472"/>
            <a:ext cx="1737360" cy="320040"/>
          </a:xfrm>
          <a:prstGeom prst="rect">
            <a:avLst/>
          </a:prstGeom>
          <a:noFill/>
        </p:spPr>
        <p:txBody>
          <a:bodyPr wrap="square">
            <a:spAutoFit/>
          </a:bodyPr>
          <a:lstStyle/>
          <a:p>
            <a:pPr algn="ctr">
              <a:defRPr sz="1000" b="0">
                <a:solidFill>
                  <a:srgbClr val="E8ECF4"/>
                </a:solidFill>
                <a:latin typeface="Consolas"/>
              </a:defRPr>
            </a:pPr>
            <a:r>
              <a:t>0.000</a:t>
            </a:r>
          </a:p>
        </p:txBody>
      </p:sp>
      <p:sp>
        <p:nvSpPr>
          <p:cNvPr id="23" name="Rounded Rectangle 22"/>
          <p:cNvSpPr/>
          <p:nvPr/>
        </p:nvSpPr>
        <p:spPr>
          <a:xfrm>
            <a:off x="457200" y="1847088"/>
            <a:ext cx="11247120" cy="384048"/>
          </a:xfrm>
          <a:prstGeom prst="roundRect">
            <a:avLst/>
          </a:prstGeom>
          <a:solidFill>
            <a:srgbClr val="1A23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1874519"/>
            <a:ext cx="1097280" cy="320040"/>
          </a:xfrm>
          <a:prstGeom prst="rect">
            <a:avLst/>
          </a:prstGeom>
          <a:noFill/>
        </p:spPr>
        <p:txBody>
          <a:bodyPr wrap="square">
            <a:spAutoFit/>
          </a:bodyPr>
          <a:lstStyle/>
          <a:p>
            <a:pPr algn="ctr">
              <a:defRPr sz="1000" b="0">
                <a:solidFill>
                  <a:srgbClr val="E8ECF4"/>
                </a:solidFill>
                <a:latin typeface="Consolas"/>
              </a:defRPr>
            </a:pPr>
            <a:r>
              <a:t>2.0</a:t>
            </a:r>
          </a:p>
        </p:txBody>
      </p:sp>
      <p:sp>
        <p:nvSpPr>
          <p:cNvPr id="25" name="TextBox 24"/>
          <p:cNvSpPr txBox="1"/>
          <p:nvPr/>
        </p:nvSpPr>
        <p:spPr>
          <a:xfrm>
            <a:off x="1691640" y="1874519"/>
            <a:ext cx="1097280" cy="320040"/>
          </a:xfrm>
          <a:prstGeom prst="rect">
            <a:avLst/>
          </a:prstGeom>
          <a:noFill/>
        </p:spPr>
        <p:txBody>
          <a:bodyPr wrap="square">
            <a:spAutoFit/>
          </a:bodyPr>
          <a:lstStyle/>
          <a:p>
            <a:pPr algn="ctr">
              <a:defRPr sz="1000" b="0">
                <a:solidFill>
                  <a:srgbClr val="E8ECF4"/>
                </a:solidFill>
                <a:latin typeface="Consolas"/>
              </a:defRPr>
            </a:pPr>
            <a:r>
              <a:t>0.392</a:t>
            </a:r>
          </a:p>
        </p:txBody>
      </p:sp>
      <p:sp>
        <p:nvSpPr>
          <p:cNvPr id="26" name="TextBox 25"/>
          <p:cNvSpPr txBox="1"/>
          <p:nvPr/>
        </p:nvSpPr>
        <p:spPr>
          <a:xfrm>
            <a:off x="2880360" y="1874519"/>
            <a:ext cx="1097280" cy="320040"/>
          </a:xfrm>
          <a:prstGeom prst="rect">
            <a:avLst/>
          </a:prstGeom>
          <a:noFill/>
        </p:spPr>
        <p:txBody>
          <a:bodyPr wrap="square">
            <a:spAutoFit/>
          </a:bodyPr>
          <a:lstStyle/>
          <a:p>
            <a:pPr algn="ctr">
              <a:defRPr sz="1000" b="0">
                <a:solidFill>
                  <a:srgbClr val="E8ECF4"/>
                </a:solidFill>
                <a:latin typeface="Consolas"/>
              </a:defRPr>
            </a:pPr>
            <a:r>
              <a:t>1.000</a:t>
            </a:r>
          </a:p>
        </p:txBody>
      </p:sp>
      <p:sp>
        <p:nvSpPr>
          <p:cNvPr id="27" name="TextBox 26"/>
          <p:cNvSpPr txBox="1"/>
          <p:nvPr/>
        </p:nvSpPr>
        <p:spPr>
          <a:xfrm>
            <a:off x="4069080" y="1874519"/>
            <a:ext cx="1188719" cy="320040"/>
          </a:xfrm>
          <a:prstGeom prst="rect">
            <a:avLst/>
          </a:prstGeom>
          <a:noFill/>
        </p:spPr>
        <p:txBody>
          <a:bodyPr wrap="square">
            <a:spAutoFit/>
          </a:bodyPr>
          <a:lstStyle/>
          <a:p>
            <a:pPr algn="ctr">
              <a:defRPr sz="1000" b="0">
                <a:solidFill>
                  <a:srgbClr val="00E676"/>
                </a:solidFill>
                <a:latin typeface="Consolas"/>
              </a:defRPr>
            </a:pPr>
            <a:r>
              <a:t>✓ Normal</a:t>
            </a:r>
          </a:p>
        </p:txBody>
      </p:sp>
      <p:sp>
        <p:nvSpPr>
          <p:cNvPr id="28" name="TextBox 27"/>
          <p:cNvSpPr txBox="1"/>
          <p:nvPr/>
        </p:nvSpPr>
        <p:spPr>
          <a:xfrm>
            <a:off x="5349240" y="1874519"/>
            <a:ext cx="1097280" cy="320040"/>
          </a:xfrm>
          <a:prstGeom prst="rect">
            <a:avLst/>
          </a:prstGeom>
          <a:noFill/>
        </p:spPr>
        <p:txBody>
          <a:bodyPr wrap="square">
            <a:spAutoFit/>
          </a:bodyPr>
          <a:lstStyle/>
          <a:p>
            <a:pPr algn="ctr">
              <a:defRPr sz="1000" b="0">
                <a:solidFill>
                  <a:srgbClr val="E8ECF4"/>
                </a:solidFill>
                <a:latin typeface="Consolas"/>
              </a:defRPr>
            </a:pPr>
            <a:r>
              <a:t>1000</a:t>
            </a:r>
          </a:p>
        </p:txBody>
      </p:sp>
      <p:sp>
        <p:nvSpPr>
          <p:cNvPr id="29" name="TextBox 28"/>
          <p:cNvSpPr txBox="1"/>
          <p:nvPr/>
        </p:nvSpPr>
        <p:spPr>
          <a:xfrm>
            <a:off x="6537960" y="1874519"/>
            <a:ext cx="1280160" cy="320040"/>
          </a:xfrm>
          <a:prstGeom prst="rect">
            <a:avLst/>
          </a:prstGeom>
          <a:noFill/>
        </p:spPr>
        <p:txBody>
          <a:bodyPr wrap="square">
            <a:spAutoFit/>
          </a:bodyPr>
          <a:lstStyle/>
          <a:p>
            <a:pPr algn="ctr">
              <a:defRPr sz="1000" b="0">
                <a:solidFill>
                  <a:srgbClr val="E8ECF4"/>
                </a:solidFill>
                <a:latin typeface="Consolas"/>
              </a:defRPr>
            </a:pPr>
            <a:r>
              <a:t>1000</a:t>
            </a:r>
          </a:p>
        </p:txBody>
      </p:sp>
      <p:sp>
        <p:nvSpPr>
          <p:cNvPr id="30" name="TextBox 29"/>
          <p:cNvSpPr txBox="1"/>
          <p:nvPr/>
        </p:nvSpPr>
        <p:spPr>
          <a:xfrm>
            <a:off x="7909560" y="1874519"/>
            <a:ext cx="1005839" cy="320040"/>
          </a:xfrm>
          <a:prstGeom prst="rect">
            <a:avLst/>
          </a:prstGeom>
          <a:noFill/>
        </p:spPr>
        <p:txBody>
          <a:bodyPr wrap="square">
            <a:spAutoFit/>
          </a:bodyPr>
          <a:lstStyle/>
          <a:p>
            <a:pPr algn="ctr">
              <a:defRPr sz="1000" b="0">
                <a:solidFill>
                  <a:srgbClr val="E8ECF4"/>
                </a:solidFill>
                <a:latin typeface="Consolas"/>
              </a:defRPr>
            </a:pPr>
            <a:r>
              <a:t>0</a:t>
            </a:r>
          </a:p>
        </p:txBody>
      </p:sp>
      <p:sp>
        <p:nvSpPr>
          <p:cNvPr id="31" name="TextBox 30"/>
          <p:cNvSpPr txBox="1"/>
          <p:nvPr/>
        </p:nvSpPr>
        <p:spPr>
          <a:xfrm>
            <a:off x="9006840" y="1874519"/>
            <a:ext cx="1737360" cy="320040"/>
          </a:xfrm>
          <a:prstGeom prst="rect">
            <a:avLst/>
          </a:prstGeom>
          <a:noFill/>
        </p:spPr>
        <p:txBody>
          <a:bodyPr wrap="square">
            <a:spAutoFit/>
          </a:bodyPr>
          <a:lstStyle/>
          <a:p>
            <a:pPr algn="ctr">
              <a:defRPr sz="1000" b="0">
                <a:solidFill>
                  <a:srgbClr val="E8ECF4"/>
                </a:solidFill>
                <a:latin typeface="Consolas"/>
              </a:defRPr>
            </a:pPr>
            <a:r>
              <a:t>0.000</a:t>
            </a:r>
          </a:p>
        </p:txBody>
      </p:sp>
      <p:sp>
        <p:nvSpPr>
          <p:cNvPr id="32" name="Rounded Rectangle 31"/>
          <p:cNvSpPr/>
          <p:nvPr/>
        </p:nvSpPr>
        <p:spPr>
          <a:xfrm>
            <a:off x="457200" y="2231136"/>
            <a:ext cx="11247120" cy="384048"/>
          </a:xfrm>
          <a:prstGeom prst="round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2258568"/>
            <a:ext cx="1097280" cy="320040"/>
          </a:xfrm>
          <a:prstGeom prst="rect">
            <a:avLst/>
          </a:prstGeom>
          <a:noFill/>
        </p:spPr>
        <p:txBody>
          <a:bodyPr wrap="square">
            <a:spAutoFit/>
          </a:bodyPr>
          <a:lstStyle/>
          <a:p>
            <a:pPr algn="ctr">
              <a:defRPr sz="1000" b="0">
                <a:solidFill>
                  <a:srgbClr val="E8ECF4"/>
                </a:solidFill>
                <a:latin typeface="Consolas"/>
              </a:defRPr>
            </a:pPr>
            <a:r>
              <a:t>5.0</a:t>
            </a:r>
          </a:p>
        </p:txBody>
      </p:sp>
      <p:sp>
        <p:nvSpPr>
          <p:cNvPr id="34" name="TextBox 33"/>
          <p:cNvSpPr txBox="1"/>
          <p:nvPr/>
        </p:nvSpPr>
        <p:spPr>
          <a:xfrm>
            <a:off x="1691640" y="2258568"/>
            <a:ext cx="1097280" cy="320040"/>
          </a:xfrm>
          <a:prstGeom prst="rect">
            <a:avLst/>
          </a:prstGeom>
          <a:noFill/>
        </p:spPr>
        <p:txBody>
          <a:bodyPr wrap="square">
            <a:spAutoFit/>
          </a:bodyPr>
          <a:lstStyle/>
          <a:p>
            <a:pPr algn="ctr">
              <a:defRPr sz="1000" b="0">
                <a:solidFill>
                  <a:srgbClr val="E8ECF4"/>
                </a:solidFill>
                <a:latin typeface="Consolas"/>
              </a:defRPr>
            </a:pPr>
            <a:r>
              <a:t>0.981</a:t>
            </a:r>
          </a:p>
        </p:txBody>
      </p:sp>
      <p:sp>
        <p:nvSpPr>
          <p:cNvPr id="35" name="TextBox 34"/>
          <p:cNvSpPr txBox="1"/>
          <p:nvPr/>
        </p:nvSpPr>
        <p:spPr>
          <a:xfrm>
            <a:off x="2880360" y="2258568"/>
            <a:ext cx="1097280" cy="320040"/>
          </a:xfrm>
          <a:prstGeom prst="rect">
            <a:avLst/>
          </a:prstGeom>
          <a:noFill/>
        </p:spPr>
        <p:txBody>
          <a:bodyPr wrap="square">
            <a:spAutoFit/>
          </a:bodyPr>
          <a:lstStyle/>
          <a:p>
            <a:pPr algn="ctr">
              <a:defRPr sz="1000" b="0">
                <a:solidFill>
                  <a:srgbClr val="E8ECF4"/>
                </a:solidFill>
                <a:latin typeface="Consolas"/>
              </a:defRPr>
            </a:pPr>
            <a:r>
              <a:t>1.000</a:t>
            </a:r>
          </a:p>
        </p:txBody>
      </p:sp>
      <p:sp>
        <p:nvSpPr>
          <p:cNvPr id="36" name="TextBox 35"/>
          <p:cNvSpPr txBox="1"/>
          <p:nvPr/>
        </p:nvSpPr>
        <p:spPr>
          <a:xfrm>
            <a:off x="4069080" y="2258568"/>
            <a:ext cx="1188719" cy="320040"/>
          </a:xfrm>
          <a:prstGeom prst="rect">
            <a:avLst/>
          </a:prstGeom>
          <a:noFill/>
        </p:spPr>
        <p:txBody>
          <a:bodyPr wrap="square">
            <a:spAutoFit/>
          </a:bodyPr>
          <a:lstStyle/>
          <a:p>
            <a:pPr algn="ctr">
              <a:defRPr sz="1000" b="0">
                <a:solidFill>
                  <a:srgbClr val="00E676"/>
                </a:solidFill>
                <a:latin typeface="Consolas"/>
              </a:defRPr>
            </a:pPr>
            <a:r>
              <a:t>✓ Normal</a:t>
            </a:r>
          </a:p>
        </p:txBody>
      </p:sp>
      <p:sp>
        <p:nvSpPr>
          <p:cNvPr id="37" name="TextBox 36"/>
          <p:cNvSpPr txBox="1"/>
          <p:nvPr/>
        </p:nvSpPr>
        <p:spPr>
          <a:xfrm>
            <a:off x="5349240" y="2258568"/>
            <a:ext cx="1097280" cy="320040"/>
          </a:xfrm>
          <a:prstGeom prst="rect">
            <a:avLst/>
          </a:prstGeom>
          <a:noFill/>
        </p:spPr>
        <p:txBody>
          <a:bodyPr wrap="square">
            <a:spAutoFit/>
          </a:bodyPr>
          <a:lstStyle/>
          <a:p>
            <a:pPr algn="ctr">
              <a:defRPr sz="1000" b="0">
                <a:solidFill>
                  <a:srgbClr val="E8ECF4"/>
                </a:solidFill>
                <a:latin typeface="Consolas"/>
              </a:defRPr>
            </a:pPr>
            <a:r>
              <a:t>1000</a:t>
            </a:r>
          </a:p>
        </p:txBody>
      </p:sp>
      <p:sp>
        <p:nvSpPr>
          <p:cNvPr id="38" name="TextBox 37"/>
          <p:cNvSpPr txBox="1"/>
          <p:nvPr/>
        </p:nvSpPr>
        <p:spPr>
          <a:xfrm>
            <a:off x="6537960" y="2258568"/>
            <a:ext cx="1280160" cy="320040"/>
          </a:xfrm>
          <a:prstGeom prst="rect">
            <a:avLst/>
          </a:prstGeom>
          <a:noFill/>
        </p:spPr>
        <p:txBody>
          <a:bodyPr wrap="square">
            <a:spAutoFit/>
          </a:bodyPr>
          <a:lstStyle/>
          <a:p>
            <a:pPr algn="ctr">
              <a:defRPr sz="1000" b="0">
                <a:solidFill>
                  <a:srgbClr val="E8ECF4"/>
                </a:solidFill>
                <a:latin typeface="Consolas"/>
              </a:defRPr>
            </a:pPr>
            <a:r>
              <a:t>1000</a:t>
            </a:r>
          </a:p>
        </p:txBody>
      </p:sp>
      <p:sp>
        <p:nvSpPr>
          <p:cNvPr id="39" name="TextBox 38"/>
          <p:cNvSpPr txBox="1"/>
          <p:nvPr/>
        </p:nvSpPr>
        <p:spPr>
          <a:xfrm>
            <a:off x="7909560" y="2258568"/>
            <a:ext cx="1005839" cy="320040"/>
          </a:xfrm>
          <a:prstGeom prst="rect">
            <a:avLst/>
          </a:prstGeom>
          <a:noFill/>
        </p:spPr>
        <p:txBody>
          <a:bodyPr wrap="square">
            <a:spAutoFit/>
          </a:bodyPr>
          <a:lstStyle/>
          <a:p>
            <a:pPr algn="ctr">
              <a:defRPr sz="1000" b="0">
                <a:solidFill>
                  <a:srgbClr val="E8ECF4"/>
                </a:solidFill>
                <a:latin typeface="Consolas"/>
              </a:defRPr>
            </a:pPr>
            <a:r>
              <a:t>0</a:t>
            </a:r>
          </a:p>
        </p:txBody>
      </p:sp>
      <p:sp>
        <p:nvSpPr>
          <p:cNvPr id="40" name="TextBox 39"/>
          <p:cNvSpPr txBox="1"/>
          <p:nvPr/>
        </p:nvSpPr>
        <p:spPr>
          <a:xfrm>
            <a:off x="9006840" y="2258568"/>
            <a:ext cx="1737360" cy="320040"/>
          </a:xfrm>
          <a:prstGeom prst="rect">
            <a:avLst/>
          </a:prstGeom>
          <a:noFill/>
        </p:spPr>
        <p:txBody>
          <a:bodyPr wrap="square">
            <a:spAutoFit/>
          </a:bodyPr>
          <a:lstStyle/>
          <a:p>
            <a:pPr algn="ctr">
              <a:defRPr sz="1000" b="0">
                <a:solidFill>
                  <a:srgbClr val="E8ECF4"/>
                </a:solidFill>
                <a:latin typeface="Consolas"/>
              </a:defRPr>
            </a:pPr>
            <a:r>
              <a:t>0.000</a:t>
            </a:r>
          </a:p>
        </p:txBody>
      </p:sp>
      <p:sp>
        <p:nvSpPr>
          <p:cNvPr id="41" name="Rounded Rectangle 40"/>
          <p:cNvSpPr/>
          <p:nvPr/>
        </p:nvSpPr>
        <p:spPr>
          <a:xfrm>
            <a:off x="457200" y="2615184"/>
            <a:ext cx="11247120" cy="384048"/>
          </a:xfrm>
          <a:prstGeom prst="roundRect">
            <a:avLst/>
          </a:prstGeom>
          <a:solidFill>
            <a:srgbClr val="1A23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2920" y="2642616"/>
            <a:ext cx="1097280" cy="320040"/>
          </a:xfrm>
          <a:prstGeom prst="rect">
            <a:avLst/>
          </a:prstGeom>
          <a:noFill/>
        </p:spPr>
        <p:txBody>
          <a:bodyPr wrap="square">
            <a:spAutoFit/>
          </a:bodyPr>
          <a:lstStyle/>
          <a:p>
            <a:pPr algn="ctr">
              <a:defRPr sz="1000" b="0">
                <a:solidFill>
                  <a:srgbClr val="E8ECF4"/>
                </a:solidFill>
                <a:latin typeface="Consolas"/>
              </a:defRPr>
            </a:pPr>
            <a:r>
              <a:t>5.1</a:t>
            </a:r>
          </a:p>
        </p:txBody>
      </p:sp>
      <p:sp>
        <p:nvSpPr>
          <p:cNvPr id="43" name="TextBox 42"/>
          <p:cNvSpPr txBox="1"/>
          <p:nvPr/>
        </p:nvSpPr>
        <p:spPr>
          <a:xfrm>
            <a:off x="1691640" y="2642616"/>
            <a:ext cx="1097280" cy="320040"/>
          </a:xfrm>
          <a:prstGeom prst="rect">
            <a:avLst/>
          </a:prstGeom>
          <a:noFill/>
        </p:spPr>
        <p:txBody>
          <a:bodyPr wrap="square">
            <a:spAutoFit/>
          </a:bodyPr>
          <a:lstStyle/>
          <a:p>
            <a:pPr algn="ctr">
              <a:defRPr sz="1000" b="0">
                <a:solidFill>
                  <a:srgbClr val="E8ECF4"/>
                </a:solidFill>
                <a:latin typeface="Consolas"/>
              </a:defRPr>
            </a:pPr>
            <a:r>
              <a:t>1.001</a:t>
            </a:r>
          </a:p>
        </p:txBody>
      </p:sp>
      <p:sp>
        <p:nvSpPr>
          <p:cNvPr id="44" name="TextBox 43"/>
          <p:cNvSpPr txBox="1"/>
          <p:nvPr/>
        </p:nvSpPr>
        <p:spPr>
          <a:xfrm>
            <a:off x="2880360" y="2642616"/>
            <a:ext cx="1097280" cy="320040"/>
          </a:xfrm>
          <a:prstGeom prst="rect">
            <a:avLst/>
          </a:prstGeom>
          <a:noFill/>
        </p:spPr>
        <p:txBody>
          <a:bodyPr wrap="square">
            <a:spAutoFit/>
          </a:bodyPr>
          <a:lstStyle/>
          <a:p>
            <a:pPr algn="ctr">
              <a:defRPr sz="1000" b="0">
                <a:solidFill>
                  <a:srgbClr val="E8ECF4"/>
                </a:solidFill>
                <a:latin typeface="Consolas"/>
              </a:defRPr>
            </a:pPr>
            <a:r>
              <a:t>1.000</a:t>
            </a:r>
          </a:p>
        </p:txBody>
      </p:sp>
      <p:sp>
        <p:nvSpPr>
          <p:cNvPr id="45" name="TextBox 44"/>
          <p:cNvSpPr txBox="1"/>
          <p:nvPr/>
        </p:nvSpPr>
        <p:spPr>
          <a:xfrm>
            <a:off x="4069080" y="2642616"/>
            <a:ext cx="1188719" cy="320040"/>
          </a:xfrm>
          <a:prstGeom prst="rect">
            <a:avLst/>
          </a:prstGeom>
          <a:noFill/>
        </p:spPr>
        <p:txBody>
          <a:bodyPr wrap="square">
            <a:spAutoFit/>
          </a:bodyPr>
          <a:lstStyle/>
          <a:p>
            <a:pPr algn="ctr">
              <a:defRPr sz="1000" b="0">
                <a:solidFill>
                  <a:srgbClr val="FF9800"/>
                </a:solidFill>
                <a:latin typeface="Consolas"/>
              </a:defRPr>
            </a:pPr>
            <a:r>
              <a:t>⚠ Step Loss</a:t>
            </a:r>
          </a:p>
        </p:txBody>
      </p:sp>
      <p:sp>
        <p:nvSpPr>
          <p:cNvPr id="46" name="TextBox 45"/>
          <p:cNvSpPr txBox="1"/>
          <p:nvPr/>
        </p:nvSpPr>
        <p:spPr>
          <a:xfrm>
            <a:off x="5349240" y="2642616"/>
            <a:ext cx="1097280" cy="320040"/>
          </a:xfrm>
          <a:prstGeom prst="rect">
            <a:avLst/>
          </a:prstGeom>
          <a:noFill/>
        </p:spPr>
        <p:txBody>
          <a:bodyPr wrap="square">
            <a:spAutoFit/>
          </a:bodyPr>
          <a:lstStyle/>
          <a:p>
            <a:pPr algn="ctr">
              <a:defRPr sz="1000" b="0">
                <a:solidFill>
                  <a:srgbClr val="E8ECF4"/>
                </a:solidFill>
                <a:latin typeface="Consolas"/>
              </a:defRPr>
            </a:pPr>
            <a:r>
              <a:t>1000</a:t>
            </a:r>
          </a:p>
        </p:txBody>
      </p:sp>
      <p:sp>
        <p:nvSpPr>
          <p:cNvPr id="47" name="TextBox 46"/>
          <p:cNvSpPr txBox="1"/>
          <p:nvPr/>
        </p:nvSpPr>
        <p:spPr>
          <a:xfrm>
            <a:off x="6537960" y="2642616"/>
            <a:ext cx="1280160" cy="320040"/>
          </a:xfrm>
          <a:prstGeom prst="rect">
            <a:avLst/>
          </a:prstGeom>
          <a:noFill/>
        </p:spPr>
        <p:txBody>
          <a:bodyPr wrap="square">
            <a:spAutoFit/>
          </a:bodyPr>
          <a:lstStyle/>
          <a:p>
            <a:pPr algn="ctr">
              <a:defRPr sz="1000" b="0">
                <a:solidFill>
                  <a:srgbClr val="E8ECF4"/>
                </a:solidFill>
                <a:latin typeface="Consolas"/>
              </a:defRPr>
            </a:pPr>
            <a:r>
              <a:t>999</a:t>
            </a:r>
          </a:p>
        </p:txBody>
      </p:sp>
      <p:sp>
        <p:nvSpPr>
          <p:cNvPr id="48" name="TextBox 47"/>
          <p:cNvSpPr txBox="1"/>
          <p:nvPr/>
        </p:nvSpPr>
        <p:spPr>
          <a:xfrm>
            <a:off x="7909560" y="2642616"/>
            <a:ext cx="1005839" cy="320040"/>
          </a:xfrm>
          <a:prstGeom prst="rect">
            <a:avLst/>
          </a:prstGeom>
          <a:noFill/>
        </p:spPr>
        <p:txBody>
          <a:bodyPr wrap="square">
            <a:spAutoFit/>
          </a:bodyPr>
          <a:lstStyle/>
          <a:p>
            <a:pPr algn="ctr">
              <a:defRPr sz="1000" b="0">
                <a:solidFill>
                  <a:srgbClr val="FF4060"/>
                </a:solidFill>
                <a:latin typeface="Consolas"/>
              </a:defRPr>
            </a:pPr>
            <a:r>
              <a:t>1</a:t>
            </a:r>
          </a:p>
        </p:txBody>
      </p:sp>
      <p:sp>
        <p:nvSpPr>
          <p:cNvPr id="49" name="TextBox 48"/>
          <p:cNvSpPr txBox="1"/>
          <p:nvPr/>
        </p:nvSpPr>
        <p:spPr>
          <a:xfrm>
            <a:off x="9006840" y="2642616"/>
            <a:ext cx="1737360" cy="320040"/>
          </a:xfrm>
          <a:prstGeom prst="rect">
            <a:avLst/>
          </a:prstGeom>
          <a:noFill/>
        </p:spPr>
        <p:txBody>
          <a:bodyPr wrap="square">
            <a:spAutoFit/>
          </a:bodyPr>
          <a:lstStyle/>
          <a:p>
            <a:pPr algn="ctr">
              <a:defRPr sz="1000" b="0">
                <a:solidFill>
                  <a:srgbClr val="FF9800"/>
                </a:solidFill>
                <a:latin typeface="Consolas"/>
              </a:defRPr>
            </a:pPr>
            <a:r>
              <a:t>0.628</a:t>
            </a:r>
          </a:p>
        </p:txBody>
      </p:sp>
      <p:sp>
        <p:nvSpPr>
          <p:cNvPr id="50" name="Rounded Rectangle 49"/>
          <p:cNvSpPr/>
          <p:nvPr/>
        </p:nvSpPr>
        <p:spPr>
          <a:xfrm>
            <a:off x="457200" y="2999232"/>
            <a:ext cx="11247120" cy="384048"/>
          </a:xfrm>
          <a:prstGeom prst="round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02920" y="3026664"/>
            <a:ext cx="1097280" cy="320040"/>
          </a:xfrm>
          <a:prstGeom prst="rect">
            <a:avLst/>
          </a:prstGeom>
          <a:noFill/>
        </p:spPr>
        <p:txBody>
          <a:bodyPr wrap="square">
            <a:spAutoFit/>
          </a:bodyPr>
          <a:lstStyle/>
          <a:p>
            <a:pPr algn="ctr">
              <a:defRPr sz="1000" b="0">
                <a:solidFill>
                  <a:srgbClr val="E8ECF4"/>
                </a:solidFill>
                <a:latin typeface="Consolas"/>
              </a:defRPr>
            </a:pPr>
            <a:r>
              <a:t>7.0</a:t>
            </a:r>
          </a:p>
        </p:txBody>
      </p:sp>
      <p:sp>
        <p:nvSpPr>
          <p:cNvPr id="52" name="TextBox 51"/>
          <p:cNvSpPr txBox="1"/>
          <p:nvPr/>
        </p:nvSpPr>
        <p:spPr>
          <a:xfrm>
            <a:off x="1691640" y="3026664"/>
            <a:ext cx="1097280" cy="320040"/>
          </a:xfrm>
          <a:prstGeom prst="rect">
            <a:avLst/>
          </a:prstGeom>
          <a:noFill/>
        </p:spPr>
        <p:txBody>
          <a:bodyPr wrap="square">
            <a:spAutoFit/>
          </a:bodyPr>
          <a:lstStyle/>
          <a:p>
            <a:pPr algn="ctr">
              <a:defRPr sz="1000" b="0">
                <a:solidFill>
                  <a:srgbClr val="E8ECF4"/>
                </a:solidFill>
                <a:latin typeface="Consolas"/>
              </a:defRPr>
            </a:pPr>
            <a:r>
              <a:t>1.373</a:t>
            </a:r>
          </a:p>
        </p:txBody>
      </p:sp>
      <p:sp>
        <p:nvSpPr>
          <p:cNvPr id="53" name="TextBox 52"/>
          <p:cNvSpPr txBox="1"/>
          <p:nvPr/>
        </p:nvSpPr>
        <p:spPr>
          <a:xfrm>
            <a:off x="2880360" y="3026664"/>
            <a:ext cx="1097280" cy="320040"/>
          </a:xfrm>
          <a:prstGeom prst="rect">
            <a:avLst/>
          </a:prstGeom>
          <a:noFill/>
        </p:spPr>
        <p:txBody>
          <a:bodyPr wrap="square">
            <a:spAutoFit/>
          </a:bodyPr>
          <a:lstStyle/>
          <a:p>
            <a:pPr algn="ctr">
              <a:defRPr sz="1000" b="0">
                <a:solidFill>
                  <a:srgbClr val="E8ECF4"/>
                </a:solidFill>
                <a:latin typeface="Consolas"/>
              </a:defRPr>
            </a:pPr>
            <a:r>
              <a:t>1.000</a:t>
            </a:r>
          </a:p>
        </p:txBody>
      </p:sp>
      <p:sp>
        <p:nvSpPr>
          <p:cNvPr id="54" name="TextBox 53"/>
          <p:cNvSpPr txBox="1"/>
          <p:nvPr/>
        </p:nvSpPr>
        <p:spPr>
          <a:xfrm>
            <a:off x="4069080" y="3026664"/>
            <a:ext cx="1188719" cy="320040"/>
          </a:xfrm>
          <a:prstGeom prst="rect">
            <a:avLst/>
          </a:prstGeom>
          <a:noFill/>
        </p:spPr>
        <p:txBody>
          <a:bodyPr wrap="square">
            <a:spAutoFit/>
          </a:bodyPr>
          <a:lstStyle/>
          <a:p>
            <a:pPr algn="ctr">
              <a:defRPr sz="1000" b="0">
                <a:solidFill>
                  <a:srgbClr val="FF9800"/>
                </a:solidFill>
                <a:latin typeface="Consolas"/>
              </a:defRPr>
            </a:pPr>
            <a:r>
              <a:t>⚠ Step Loss</a:t>
            </a:r>
          </a:p>
        </p:txBody>
      </p:sp>
      <p:sp>
        <p:nvSpPr>
          <p:cNvPr id="55" name="TextBox 54"/>
          <p:cNvSpPr txBox="1"/>
          <p:nvPr/>
        </p:nvSpPr>
        <p:spPr>
          <a:xfrm>
            <a:off x="5349240" y="3026664"/>
            <a:ext cx="1097280" cy="320040"/>
          </a:xfrm>
          <a:prstGeom prst="rect">
            <a:avLst/>
          </a:prstGeom>
          <a:noFill/>
        </p:spPr>
        <p:txBody>
          <a:bodyPr wrap="square">
            <a:spAutoFit/>
          </a:bodyPr>
          <a:lstStyle/>
          <a:p>
            <a:pPr algn="ctr">
              <a:defRPr sz="1000" b="0">
                <a:solidFill>
                  <a:srgbClr val="E8ECF4"/>
                </a:solidFill>
                <a:latin typeface="Consolas"/>
              </a:defRPr>
            </a:pPr>
            <a:r>
              <a:t>1000</a:t>
            </a:r>
          </a:p>
        </p:txBody>
      </p:sp>
      <p:sp>
        <p:nvSpPr>
          <p:cNvPr id="56" name="TextBox 55"/>
          <p:cNvSpPr txBox="1"/>
          <p:nvPr/>
        </p:nvSpPr>
        <p:spPr>
          <a:xfrm>
            <a:off x="6537960" y="3026664"/>
            <a:ext cx="1280160" cy="320040"/>
          </a:xfrm>
          <a:prstGeom prst="rect">
            <a:avLst/>
          </a:prstGeom>
          <a:noFill/>
        </p:spPr>
        <p:txBody>
          <a:bodyPr wrap="square">
            <a:spAutoFit/>
          </a:bodyPr>
          <a:lstStyle/>
          <a:p>
            <a:pPr algn="ctr">
              <a:defRPr sz="1000" b="0">
                <a:solidFill>
                  <a:srgbClr val="E8ECF4"/>
                </a:solidFill>
                <a:latin typeface="Consolas"/>
              </a:defRPr>
            </a:pPr>
            <a:r>
              <a:t>728</a:t>
            </a:r>
          </a:p>
        </p:txBody>
      </p:sp>
      <p:sp>
        <p:nvSpPr>
          <p:cNvPr id="57" name="TextBox 56"/>
          <p:cNvSpPr txBox="1"/>
          <p:nvPr/>
        </p:nvSpPr>
        <p:spPr>
          <a:xfrm>
            <a:off x="7909560" y="3026664"/>
            <a:ext cx="1005839" cy="320040"/>
          </a:xfrm>
          <a:prstGeom prst="rect">
            <a:avLst/>
          </a:prstGeom>
          <a:noFill/>
        </p:spPr>
        <p:txBody>
          <a:bodyPr wrap="square">
            <a:spAutoFit/>
          </a:bodyPr>
          <a:lstStyle/>
          <a:p>
            <a:pPr algn="ctr">
              <a:defRPr sz="1000" b="0">
                <a:solidFill>
                  <a:srgbClr val="FF4060"/>
                </a:solidFill>
                <a:latin typeface="Consolas"/>
              </a:defRPr>
            </a:pPr>
            <a:r>
              <a:t>272</a:t>
            </a:r>
          </a:p>
        </p:txBody>
      </p:sp>
      <p:sp>
        <p:nvSpPr>
          <p:cNvPr id="58" name="TextBox 57"/>
          <p:cNvSpPr txBox="1"/>
          <p:nvPr/>
        </p:nvSpPr>
        <p:spPr>
          <a:xfrm>
            <a:off x="9006840" y="3026664"/>
            <a:ext cx="1737360" cy="320040"/>
          </a:xfrm>
          <a:prstGeom prst="rect">
            <a:avLst/>
          </a:prstGeom>
          <a:noFill/>
        </p:spPr>
        <p:txBody>
          <a:bodyPr wrap="square">
            <a:spAutoFit/>
          </a:bodyPr>
          <a:lstStyle/>
          <a:p>
            <a:pPr algn="ctr">
              <a:defRPr sz="1000" b="0">
                <a:solidFill>
                  <a:srgbClr val="FF9800"/>
                </a:solidFill>
                <a:latin typeface="Consolas"/>
              </a:defRPr>
            </a:pPr>
            <a:r>
              <a:t>170.8</a:t>
            </a:r>
          </a:p>
        </p:txBody>
      </p:sp>
      <p:sp>
        <p:nvSpPr>
          <p:cNvPr id="59" name="Rounded Rectangle 58"/>
          <p:cNvSpPr/>
          <p:nvPr/>
        </p:nvSpPr>
        <p:spPr>
          <a:xfrm>
            <a:off x="457200" y="3383280"/>
            <a:ext cx="11247120" cy="384048"/>
          </a:xfrm>
          <a:prstGeom prst="roundRect">
            <a:avLst/>
          </a:prstGeom>
          <a:solidFill>
            <a:srgbClr val="1A23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02920" y="3410712"/>
            <a:ext cx="1097280" cy="320040"/>
          </a:xfrm>
          <a:prstGeom prst="rect">
            <a:avLst/>
          </a:prstGeom>
          <a:noFill/>
        </p:spPr>
        <p:txBody>
          <a:bodyPr wrap="square">
            <a:spAutoFit/>
          </a:bodyPr>
          <a:lstStyle/>
          <a:p>
            <a:pPr algn="ctr">
              <a:defRPr sz="1000" b="0">
                <a:solidFill>
                  <a:srgbClr val="E8ECF4"/>
                </a:solidFill>
                <a:latin typeface="Consolas"/>
              </a:defRPr>
            </a:pPr>
            <a:r>
              <a:t>10.0</a:t>
            </a:r>
          </a:p>
        </p:txBody>
      </p:sp>
      <p:sp>
        <p:nvSpPr>
          <p:cNvPr id="61" name="TextBox 60"/>
          <p:cNvSpPr txBox="1"/>
          <p:nvPr/>
        </p:nvSpPr>
        <p:spPr>
          <a:xfrm>
            <a:off x="1691640" y="3410712"/>
            <a:ext cx="1097280" cy="320040"/>
          </a:xfrm>
          <a:prstGeom prst="rect">
            <a:avLst/>
          </a:prstGeom>
          <a:noFill/>
        </p:spPr>
        <p:txBody>
          <a:bodyPr wrap="square">
            <a:spAutoFit/>
          </a:bodyPr>
          <a:lstStyle/>
          <a:p>
            <a:pPr algn="ctr">
              <a:defRPr sz="1000" b="0">
                <a:solidFill>
                  <a:srgbClr val="E8ECF4"/>
                </a:solidFill>
                <a:latin typeface="Consolas"/>
              </a:defRPr>
            </a:pPr>
            <a:r>
              <a:t>1.962</a:t>
            </a:r>
          </a:p>
        </p:txBody>
      </p:sp>
      <p:sp>
        <p:nvSpPr>
          <p:cNvPr id="62" name="TextBox 61"/>
          <p:cNvSpPr txBox="1"/>
          <p:nvPr/>
        </p:nvSpPr>
        <p:spPr>
          <a:xfrm>
            <a:off x="2880360" y="3410712"/>
            <a:ext cx="1097280" cy="320040"/>
          </a:xfrm>
          <a:prstGeom prst="rect">
            <a:avLst/>
          </a:prstGeom>
          <a:noFill/>
        </p:spPr>
        <p:txBody>
          <a:bodyPr wrap="square">
            <a:spAutoFit/>
          </a:bodyPr>
          <a:lstStyle/>
          <a:p>
            <a:pPr algn="ctr">
              <a:defRPr sz="1000" b="0">
                <a:solidFill>
                  <a:srgbClr val="E8ECF4"/>
                </a:solidFill>
                <a:latin typeface="Consolas"/>
              </a:defRPr>
            </a:pPr>
            <a:r>
              <a:t>1.000</a:t>
            </a:r>
          </a:p>
        </p:txBody>
      </p:sp>
      <p:sp>
        <p:nvSpPr>
          <p:cNvPr id="63" name="TextBox 62"/>
          <p:cNvSpPr txBox="1"/>
          <p:nvPr/>
        </p:nvSpPr>
        <p:spPr>
          <a:xfrm>
            <a:off x="4069080" y="3410712"/>
            <a:ext cx="1188719" cy="320040"/>
          </a:xfrm>
          <a:prstGeom prst="rect">
            <a:avLst/>
          </a:prstGeom>
          <a:noFill/>
        </p:spPr>
        <p:txBody>
          <a:bodyPr wrap="square">
            <a:spAutoFit/>
          </a:bodyPr>
          <a:lstStyle/>
          <a:p>
            <a:pPr algn="ctr">
              <a:defRPr sz="1000" b="0">
                <a:solidFill>
                  <a:srgbClr val="FF9800"/>
                </a:solidFill>
                <a:latin typeface="Consolas"/>
              </a:defRPr>
            </a:pPr>
            <a:r>
              <a:t>⚠ Step Loss</a:t>
            </a:r>
          </a:p>
        </p:txBody>
      </p:sp>
      <p:sp>
        <p:nvSpPr>
          <p:cNvPr id="64" name="TextBox 63"/>
          <p:cNvSpPr txBox="1"/>
          <p:nvPr/>
        </p:nvSpPr>
        <p:spPr>
          <a:xfrm>
            <a:off x="5349240" y="3410712"/>
            <a:ext cx="1097280" cy="320040"/>
          </a:xfrm>
          <a:prstGeom prst="rect">
            <a:avLst/>
          </a:prstGeom>
          <a:noFill/>
        </p:spPr>
        <p:txBody>
          <a:bodyPr wrap="square">
            <a:spAutoFit/>
          </a:bodyPr>
          <a:lstStyle/>
          <a:p>
            <a:pPr algn="ctr">
              <a:defRPr sz="1000" b="0">
                <a:solidFill>
                  <a:srgbClr val="E8ECF4"/>
                </a:solidFill>
                <a:latin typeface="Consolas"/>
              </a:defRPr>
            </a:pPr>
            <a:r>
              <a:t>1000</a:t>
            </a:r>
          </a:p>
        </p:txBody>
      </p:sp>
      <p:sp>
        <p:nvSpPr>
          <p:cNvPr id="65" name="TextBox 64"/>
          <p:cNvSpPr txBox="1"/>
          <p:nvPr/>
        </p:nvSpPr>
        <p:spPr>
          <a:xfrm>
            <a:off x="6537960" y="3410712"/>
            <a:ext cx="1280160" cy="320040"/>
          </a:xfrm>
          <a:prstGeom prst="rect">
            <a:avLst/>
          </a:prstGeom>
          <a:noFill/>
        </p:spPr>
        <p:txBody>
          <a:bodyPr wrap="square">
            <a:spAutoFit/>
          </a:bodyPr>
          <a:lstStyle/>
          <a:p>
            <a:pPr algn="ctr">
              <a:defRPr sz="1000" b="0">
                <a:solidFill>
                  <a:srgbClr val="E8ECF4"/>
                </a:solidFill>
                <a:latin typeface="Consolas"/>
              </a:defRPr>
            </a:pPr>
            <a:r>
              <a:t>509</a:t>
            </a:r>
          </a:p>
        </p:txBody>
      </p:sp>
      <p:sp>
        <p:nvSpPr>
          <p:cNvPr id="66" name="TextBox 65"/>
          <p:cNvSpPr txBox="1"/>
          <p:nvPr/>
        </p:nvSpPr>
        <p:spPr>
          <a:xfrm>
            <a:off x="7909560" y="3410712"/>
            <a:ext cx="1005839" cy="320040"/>
          </a:xfrm>
          <a:prstGeom prst="rect">
            <a:avLst/>
          </a:prstGeom>
          <a:noFill/>
        </p:spPr>
        <p:txBody>
          <a:bodyPr wrap="square">
            <a:spAutoFit/>
          </a:bodyPr>
          <a:lstStyle/>
          <a:p>
            <a:pPr algn="ctr">
              <a:defRPr sz="1000" b="0">
                <a:solidFill>
                  <a:srgbClr val="FF4060"/>
                </a:solidFill>
                <a:latin typeface="Consolas"/>
              </a:defRPr>
            </a:pPr>
            <a:r>
              <a:t>491</a:t>
            </a:r>
          </a:p>
        </p:txBody>
      </p:sp>
      <p:sp>
        <p:nvSpPr>
          <p:cNvPr id="67" name="TextBox 66"/>
          <p:cNvSpPr txBox="1"/>
          <p:nvPr/>
        </p:nvSpPr>
        <p:spPr>
          <a:xfrm>
            <a:off x="9006840" y="3410712"/>
            <a:ext cx="1737360" cy="320040"/>
          </a:xfrm>
          <a:prstGeom prst="rect">
            <a:avLst/>
          </a:prstGeom>
          <a:noFill/>
        </p:spPr>
        <p:txBody>
          <a:bodyPr wrap="square">
            <a:spAutoFit/>
          </a:bodyPr>
          <a:lstStyle/>
          <a:p>
            <a:pPr algn="ctr">
              <a:defRPr sz="1000" b="0">
                <a:solidFill>
                  <a:srgbClr val="FF9800"/>
                </a:solidFill>
                <a:latin typeface="Consolas"/>
              </a:defRPr>
            </a:pPr>
            <a:r>
              <a:t>308.3</a:t>
            </a:r>
          </a:p>
        </p:txBody>
      </p:sp>
      <p:sp>
        <p:nvSpPr>
          <p:cNvPr id="68" name="Rounded Rectangle 67"/>
          <p:cNvSpPr/>
          <p:nvPr/>
        </p:nvSpPr>
        <p:spPr>
          <a:xfrm>
            <a:off x="457200" y="3767328"/>
            <a:ext cx="11247120" cy="384048"/>
          </a:xfrm>
          <a:prstGeom prst="round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02920" y="3794760"/>
            <a:ext cx="1097280" cy="320040"/>
          </a:xfrm>
          <a:prstGeom prst="rect">
            <a:avLst/>
          </a:prstGeom>
          <a:noFill/>
        </p:spPr>
        <p:txBody>
          <a:bodyPr wrap="square">
            <a:spAutoFit/>
          </a:bodyPr>
          <a:lstStyle/>
          <a:p>
            <a:pPr algn="ctr">
              <a:defRPr sz="1000" b="0">
                <a:solidFill>
                  <a:srgbClr val="E8ECF4"/>
                </a:solidFill>
                <a:latin typeface="Consolas"/>
              </a:defRPr>
            </a:pPr>
            <a:r>
              <a:t>12.0</a:t>
            </a:r>
          </a:p>
        </p:txBody>
      </p:sp>
      <p:sp>
        <p:nvSpPr>
          <p:cNvPr id="70" name="TextBox 69"/>
          <p:cNvSpPr txBox="1"/>
          <p:nvPr/>
        </p:nvSpPr>
        <p:spPr>
          <a:xfrm>
            <a:off x="1691640" y="3794760"/>
            <a:ext cx="1097280" cy="320040"/>
          </a:xfrm>
          <a:prstGeom prst="rect">
            <a:avLst/>
          </a:prstGeom>
          <a:noFill/>
        </p:spPr>
        <p:txBody>
          <a:bodyPr wrap="square">
            <a:spAutoFit/>
          </a:bodyPr>
          <a:lstStyle/>
          <a:p>
            <a:pPr algn="ctr">
              <a:defRPr sz="1000" b="0">
                <a:solidFill>
                  <a:srgbClr val="E8ECF4"/>
                </a:solidFill>
                <a:latin typeface="Consolas"/>
              </a:defRPr>
            </a:pPr>
            <a:r>
              <a:t>2.354</a:t>
            </a:r>
          </a:p>
        </p:txBody>
      </p:sp>
      <p:sp>
        <p:nvSpPr>
          <p:cNvPr id="71" name="TextBox 70"/>
          <p:cNvSpPr txBox="1"/>
          <p:nvPr/>
        </p:nvSpPr>
        <p:spPr>
          <a:xfrm>
            <a:off x="2880360" y="3794760"/>
            <a:ext cx="1097280" cy="320040"/>
          </a:xfrm>
          <a:prstGeom prst="rect">
            <a:avLst/>
          </a:prstGeom>
          <a:noFill/>
        </p:spPr>
        <p:txBody>
          <a:bodyPr wrap="square">
            <a:spAutoFit/>
          </a:bodyPr>
          <a:lstStyle/>
          <a:p>
            <a:pPr algn="ctr">
              <a:defRPr sz="1000" b="0">
                <a:solidFill>
                  <a:srgbClr val="E8ECF4"/>
                </a:solidFill>
                <a:latin typeface="Consolas"/>
              </a:defRPr>
            </a:pPr>
            <a:r>
              <a:t>1.000</a:t>
            </a:r>
          </a:p>
        </p:txBody>
      </p:sp>
      <p:sp>
        <p:nvSpPr>
          <p:cNvPr id="72" name="TextBox 71"/>
          <p:cNvSpPr txBox="1"/>
          <p:nvPr/>
        </p:nvSpPr>
        <p:spPr>
          <a:xfrm>
            <a:off x="4069080" y="3794760"/>
            <a:ext cx="1188719" cy="320040"/>
          </a:xfrm>
          <a:prstGeom prst="rect">
            <a:avLst/>
          </a:prstGeom>
          <a:noFill/>
        </p:spPr>
        <p:txBody>
          <a:bodyPr wrap="square">
            <a:spAutoFit/>
          </a:bodyPr>
          <a:lstStyle/>
          <a:p>
            <a:pPr algn="ctr">
              <a:defRPr sz="1000" b="0">
                <a:solidFill>
                  <a:srgbClr val="FF9800"/>
                </a:solidFill>
                <a:latin typeface="Consolas"/>
              </a:defRPr>
            </a:pPr>
            <a:r>
              <a:t>⚠ Step Loss</a:t>
            </a:r>
          </a:p>
        </p:txBody>
      </p:sp>
      <p:sp>
        <p:nvSpPr>
          <p:cNvPr id="73" name="TextBox 72"/>
          <p:cNvSpPr txBox="1"/>
          <p:nvPr/>
        </p:nvSpPr>
        <p:spPr>
          <a:xfrm>
            <a:off x="5349240" y="3794760"/>
            <a:ext cx="1097280" cy="320040"/>
          </a:xfrm>
          <a:prstGeom prst="rect">
            <a:avLst/>
          </a:prstGeom>
          <a:noFill/>
        </p:spPr>
        <p:txBody>
          <a:bodyPr wrap="square">
            <a:spAutoFit/>
          </a:bodyPr>
          <a:lstStyle/>
          <a:p>
            <a:pPr algn="ctr">
              <a:defRPr sz="1000" b="0">
                <a:solidFill>
                  <a:srgbClr val="E8ECF4"/>
                </a:solidFill>
                <a:latin typeface="Consolas"/>
              </a:defRPr>
            </a:pPr>
            <a:r>
              <a:t>1000</a:t>
            </a:r>
          </a:p>
        </p:txBody>
      </p:sp>
      <p:sp>
        <p:nvSpPr>
          <p:cNvPr id="74" name="TextBox 73"/>
          <p:cNvSpPr txBox="1"/>
          <p:nvPr/>
        </p:nvSpPr>
        <p:spPr>
          <a:xfrm>
            <a:off x="6537960" y="3794760"/>
            <a:ext cx="1280160" cy="320040"/>
          </a:xfrm>
          <a:prstGeom prst="rect">
            <a:avLst/>
          </a:prstGeom>
          <a:noFill/>
        </p:spPr>
        <p:txBody>
          <a:bodyPr wrap="square">
            <a:spAutoFit/>
          </a:bodyPr>
          <a:lstStyle/>
          <a:p>
            <a:pPr algn="ctr">
              <a:defRPr sz="1000" b="0">
                <a:solidFill>
                  <a:srgbClr val="E8ECF4"/>
                </a:solidFill>
                <a:latin typeface="Consolas"/>
              </a:defRPr>
            </a:pPr>
            <a:r>
              <a:t>424</a:t>
            </a:r>
          </a:p>
        </p:txBody>
      </p:sp>
      <p:sp>
        <p:nvSpPr>
          <p:cNvPr id="75" name="TextBox 74"/>
          <p:cNvSpPr txBox="1"/>
          <p:nvPr/>
        </p:nvSpPr>
        <p:spPr>
          <a:xfrm>
            <a:off x="7909560" y="3794760"/>
            <a:ext cx="1005839" cy="320040"/>
          </a:xfrm>
          <a:prstGeom prst="rect">
            <a:avLst/>
          </a:prstGeom>
          <a:noFill/>
        </p:spPr>
        <p:txBody>
          <a:bodyPr wrap="square">
            <a:spAutoFit/>
          </a:bodyPr>
          <a:lstStyle/>
          <a:p>
            <a:pPr algn="ctr">
              <a:defRPr sz="1000" b="0">
                <a:solidFill>
                  <a:srgbClr val="FF4060"/>
                </a:solidFill>
                <a:latin typeface="Consolas"/>
              </a:defRPr>
            </a:pPr>
            <a:r>
              <a:t>576</a:t>
            </a:r>
          </a:p>
        </p:txBody>
      </p:sp>
      <p:sp>
        <p:nvSpPr>
          <p:cNvPr id="76" name="TextBox 75"/>
          <p:cNvSpPr txBox="1"/>
          <p:nvPr/>
        </p:nvSpPr>
        <p:spPr>
          <a:xfrm>
            <a:off x="9006840" y="3794760"/>
            <a:ext cx="1737360" cy="320040"/>
          </a:xfrm>
          <a:prstGeom prst="rect">
            <a:avLst/>
          </a:prstGeom>
          <a:noFill/>
        </p:spPr>
        <p:txBody>
          <a:bodyPr wrap="square">
            <a:spAutoFit/>
          </a:bodyPr>
          <a:lstStyle/>
          <a:p>
            <a:pPr algn="ctr">
              <a:defRPr sz="1000" b="0">
                <a:solidFill>
                  <a:srgbClr val="FF9800"/>
                </a:solidFill>
                <a:latin typeface="Consolas"/>
              </a:defRPr>
            </a:pPr>
            <a:r>
              <a:t>361.7</a:t>
            </a:r>
          </a:p>
        </p:txBody>
      </p:sp>
      <p:sp>
        <p:nvSpPr>
          <p:cNvPr id="77" name="Rounded Rectangle 76"/>
          <p:cNvSpPr/>
          <p:nvPr/>
        </p:nvSpPr>
        <p:spPr>
          <a:xfrm>
            <a:off x="457200" y="4151376"/>
            <a:ext cx="11247120" cy="384048"/>
          </a:xfrm>
          <a:prstGeom prst="roundRect">
            <a:avLst/>
          </a:prstGeom>
          <a:solidFill>
            <a:srgbClr val="1A23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02920" y="4178808"/>
            <a:ext cx="1097280" cy="320040"/>
          </a:xfrm>
          <a:prstGeom prst="rect">
            <a:avLst/>
          </a:prstGeom>
          <a:noFill/>
        </p:spPr>
        <p:txBody>
          <a:bodyPr wrap="square">
            <a:spAutoFit/>
          </a:bodyPr>
          <a:lstStyle/>
          <a:p>
            <a:pPr algn="ctr">
              <a:defRPr sz="1000" b="0">
                <a:solidFill>
                  <a:srgbClr val="E8ECF4"/>
                </a:solidFill>
                <a:latin typeface="Consolas"/>
              </a:defRPr>
            </a:pPr>
            <a:r>
              <a:t>15.0</a:t>
            </a:r>
          </a:p>
        </p:txBody>
      </p:sp>
      <p:sp>
        <p:nvSpPr>
          <p:cNvPr id="79" name="TextBox 78"/>
          <p:cNvSpPr txBox="1"/>
          <p:nvPr/>
        </p:nvSpPr>
        <p:spPr>
          <a:xfrm>
            <a:off x="1691640" y="4178808"/>
            <a:ext cx="1097280" cy="320040"/>
          </a:xfrm>
          <a:prstGeom prst="rect">
            <a:avLst/>
          </a:prstGeom>
          <a:noFill/>
        </p:spPr>
        <p:txBody>
          <a:bodyPr wrap="square">
            <a:spAutoFit/>
          </a:bodyPr>
          <a:lstStyle/>
          <a:p>
            <a:pPr algn="ctr">
              <a:defRPr sz="1000" b="0">
                <a:solidFill>
                  <a:srgbClr val="E8ECF4"/>
                </a:solidFill>
                <a:latin typeface="Consolas"/>
              </a:defRPr>
            </a:pPr>
            <a:r>
              <a:t>2.943</a:t>
            </a:r>
          </a:p>
        </p:txBody>
      </p:sp>
      <p:sp>
        <p:nvSpPr>
          <p:cNvPr id="80" name="TextBox 79"/>
          <p:cNvSpPr txBox="1"/>
          <p:nvPr/>
        </p:nvSpPr>
        <p:spPr>
          <a:xfrm>
            <a:off x="2880360" y="4178808"/>
            <a:ext cx="1097280" cy="320040"/>
          </a:xfrm>
          <a:prstGeom prst="rect">
            <a:avLst/>
          </a:prstGeom>
          <a:noFill/>
        </p:spPr>
        <p:txBody>
          <a:bodyPr wrap="square">
            <a:spAutoFit/>
          </a:bodyPr>
          <a:lstStyle/>
          <a:p>
            <a:pPr algn="ctr">
              <a:defRPr sz="1000" b="0">
                <a:solidFill>
                  <a:srgbClr val="E8ECF4"/>
                </a:solidFill>
                <a:latin typeface="Consolas"/>
              </a:defRPr>
            </a:pPr>
            <a:r>
              <a:t>1.000</a:t>
            </a:r>
          </a:p>
        </p:txBody>
      </p:sp>
      <p:sp>
        <p:nvSpPr>
          <p:cNvPr id="81" name="TextBox 80"/>
          <p:cNvSpPr txBox="1"/>
          <p:nvPr/>
        </p:nvSpPr>
        <p:spPr>
          <a:xfrm>
            <a:off x="4069080" y="4178808"/>
            <a:ext cx="1188719" cy="320040"/>
          </a:xfrm>
          <a:prstGeom prst="rect">
            <a:avLst/>
          </a:prstGeom>
          <a:noFill/>
        </p:spPr>
        <p:txBody>
          <a:bodyPr wrap="square">
            <a:spAutoFit/>
          </a:bodyPr>
          <a:lstStyle/>
          <a:p>
            <a:pPr algn="ctr">
              <a:defRPr sz="1000" b="0">
                <a:solidFill>
                  <a:srgbClr val="FF9800"/>
                </a:solidFill>
                <a:latin typeface="Consolas"/>
              </a:defRPr>
            </a:pPr>
            <a:r>
              <a:t>⚠ Step Loss</a:t>
            </a:r>
          </a:p>
        </p:txBody>
      </p:sp>
      <p:sp>
        <p:nvSpPr>
          <p:cNvPr id="82" name="TextBox 81"/>
          <p:cNvSpPr txBox="1"/>
          <p:nvPr/>
        </p:nvSpPr>
        <p:spPr>
          <a:xfrm>
            <a:off x="5349240" y="4178808"/>
            <a:ext cx="1097280" cy="320040"/>
          </a:xfrm>
          <a:prstGeom prst="rect">
            <a:avLst/>
          </a:prstGeom>
          <a:noFill/>
        </p:spPr>
        <p:txBody>
          <a:bodyPr wrap="square">
            <a:spAutoFit/>
          </a:bodyPr>
          <a:lstStyle/>
          <a:p>
            <a:pPr algn="ctr">
              <a:defRPr sz="1000" b="0">
                <a:solidFill>
                  <a:srgbClr val="E8ECF4"/>
                </a:solidFill>
                <a:latin typeface="Consolas"/>
              </a:defRPr>
            </a:pPr>
            <a:r>
              <a:t>1000</a:t>
            </a:r>
          </a:p>
        </p:txBody>
      </p:sp>
      <p:sp>
        <p:nvSpPr>
          <p:cNvPr id="83" name="TextBox 82"/>
          <p:cNvSpPr txBox="1"/>
          <p:nvPr/>
        </p:nvSpPr>
        <p:spPr>
          <a:xfrm>
            <a:off x="6537960" y="4178808"/>
            <a:ext cx="1280160" cy="320040"/>
          </a:xfrm>
          <a:prstGeom prst="rect">
            <a:avLst/>
          </a:prstGeom>
          <a:noFill/>
        </p:spPr>
        <p:txBody>
          <a:bodyPr wrap="square">
            <a:spAutoFit/>
          </a:bodyPr>
          <a:lstStyle/>
          <a:p>
            <a:pPr algn="ctr">
              <a:defRPr sz="1000" b="0">
                <a:solidFill>
                  <a:srgbClr val="E8ECF4"/>
                </a:solidFill>
                <a:latin typeface="Consolas"/>
              </a:defRPr>
            </a:pPr>
            <a:r>
              <a:t>339</a:t>
            </a:r>
          </a:p>
        </p:txBody>
      </p:sp>
      <p:sp>
        <p:nvSpPr>
          <p:cNvPr id="84" name="TextBox 83"/>
          <p:cNvSpPr txBox="1"/>
          <p:nvPr/>
        </p:nvSpPr>
        <p:spPr>
          <a:xfrm>
            <a:off x="7909560" y="4178808"/>
            <a:ext cx="1005839" cy="320040"/>
          </a:xfrm>
          <a:prstGeom prst="rect">
            <a:avLst/>
          </a:prstGeom>
          <a:noFill/>
        </p:spPr>
        <p:txBody>
          <a:bodyPr wrap="square">
            <a:spAutoFit/>
          </a:bodyPr>
          <a:lstStyle/>
          <a:p>
            <a:pPr algn="ctr">
              <a:defRPr sz="1000" b="0">
                <a:solidFill>
                  <a:srgbClr val="FF4060"/>
                </a:solidFill>
                <a:latin typeface="Consolas"/>
              </a:defRPr>
            </a:pPr>
            <a:r>
              <a:t>661</a:t>
            </a:r>
          </a:p>
        </p:txBody>
      </p:sp>
      <p:sp>
        <p:nvSpPr>
          <p:cNvPr id="85" name="TextBox 84"/>
          <p:cNvSpPr txBox="1"/>
          <p:nvPr/>
        </p:nvSpPr>
        <p:spPr>
          <a:xfrm>
            <a:off x="9006840" y="4178808"/>
            <a:ext cx="1737360" cy="320040"/>
          </a:xfrm>
          <a:prstGeom prst="rect">
            <a:avLst/>
          </a:prstGeom>
          <a:noFill/>
        </p:spPr>
        <p:txBody>
          <a:bodyPr wrap="square">
            <a:spAutoFit/>
          </a:bodyPr>
          <a:lstStyle/>
          <a:p>
            <a:pPr algn="ctr">
              <a:defRPr sz="1000" b="0">
                <a:solidFill>
                  <a:srgbClr val="FF9800"/>
                </a:solidFill>
                <a:latin typeface="Consolas"/>
              </a:defRPr>
            </a:pPr>
            <a:r>
              <a:t>415.2</a:t>
            </a:r>
          </a:p>
        </p:txBody>
      </p:sp>
      <p:sp>
        <p:nvSpPr>
          <p:cNvPr id="86" name="Rounded Rectangle 85"/>
          <p:cNvSpPr/>
          <p:nvPr/>
        </p:nvSpPr>
        <p:spPr>
          <a:xfrm>
            <a:off x="457200" y="4663440"/>
            <a:ext cx="11247120" cy="182880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40080" y="4754880"/>
            <a:ext cx="10881360" cy="274320"/>
          </a:xfrm>
          <a:prstGeom prst="rect">
            <a:avLst/>
          </a:prstGeom>
          <a:noFill/>
        </p:spPr>
        <p:txBody>
          <a:bodyPr wrap="square">
            <a:spAutoFit/>
          </a:bodyPr>
          <a:lstStyle/>
          <a:p>
            <a:pPr algn="l">
              <a:defRPr sz="1400" b="1">
                <a:solidFill>
                  <a:srgbClr val="00D4FF"/>
                </a:solidFill>
                <a:latin typeface="Segoe UI"/>
              </a:defRPr>
            </a:pPr>
            <a:r>
              <a:t>Key Observations</a:t>
            </a:r>
          </a:p>
        </p:txBody>
      </p:sp>
      <p:sp>
        <p:nvSpPr>
          <p:cNvPr id="88" name="TextBox 87"/>
          <p:cNvSpPr txBox="1"/>
          <p:nvPr/>
        </p:nvSpPr>
        <p:spPr>
          <a:xfrm>
            <a:off x="640080" y="5120640"/>
            <a:ext cx="10881360" cy="1371600"/>
          </a:xfrm>
          <a:prstGeom prst="rect">
            <a:avLst/>
          </a:prstGeom>
          <a:noFill/>
        </p:spPr>
        <p:txBody>
          <a:bodyPr wrap="square">
            <a:spAutoFit/>
          </a:bodyPr>
          <a:lstStyle/>
          <a:p>
            <a:pPr>
              <a:spcAft>
                <a:spcPts val="600"/>
              </a:spcAft>
            </a:pPr>
            <a:r>
              <a:rPr sz="1200" b="1">
                <a:solidFill>
                  <a:srgbClr val="FF9800"/>
                </a:solidFill>
                <a:latin typeface="Consolas"/>
              </a:rPr>
              <a:t>●  </a:t>
            </a:r>
            <a:r>
              <a:rPr sz="1200">
                <a:solidFill>
                  <a:srgbClr val="E8ECF4"/>
                </a:solidFill>
                <a:latin typeface="Segoe UI"/>
              </a:rPr>
              <a:t>Step loss begins exactly at 5.1 kg (when T_req exceeds T_avail of 1.0 Nm)</a:t>
            </a:r>
          </a:p>
          <a:p>
            <a:pPr>
              <a:spcAft>
                <a:spcPts val="600"/>
              </a:spcAft>
            </a:pPr>
            <a:r>
              <a:rPr sz="1200" b="1">
                <a:solidFill>
                  <a:srgbClr val="FF4060"/>
                </a:solidFill>
                <a:latin typeface="Consolas"/>
              </a:rPr>
              <a:t>●  </a:t>
            </a:r>
            <a:r>
              <a:rPr sz="1200">
                <a:solidFill>
                  <a:srgbClr val="E8ECF4"/>
                </a:solidFill>
                <a:latin typeface="Segoe UI"/>
              </a:rPr>
              <a:t>At 10 kg load, approximately 49% of steps are lost — nearly half the intended displacement</a:t>
            </a:r>
          </a:p>
          <a:p>
            <a:pPr>
              <a:spcAft>
                <a:spcPts val="600"/>
              </a:spcAft>
            </a:pPr>
            <a:r>
              <a:rPr sz="1200" b="1">
                <a:solidFill>
                  <a:srgbClr val="00D4FF"/>
                </a:solidFill>
                <a:latin typeface="Consolas"/>
              </a:rPr>
              <a:t>●  </a:t>
            </a:r>
            <a:r>
              <a:rPr sz="1200">
                <a:solidFill>
                  <a:srgbClr val="E8ECF4"/>
                </a:solidFill>
                <a:latin typeface="Segoe UI"/>
              </a:rPr>
              <a:t>The relationship between load and step loss is non-linear (inversely proportional)</a:t>
            </a:r>
          </a:p>
          <a:p>
            <a:pPr>
              <a:spcAft>
                <a:spcPts val="600"/>
              </a:spcAft>
            </a:pPr>
            <a:r>
              <a:rPr sz="1200" b="1">
                <a:solidFill>
                  <a:srgbClr val="FF4060"/>
                </a:solidFill>
                <a:latin typeface="Consolas"/>
              </a:rPr>
              <a:t>●  </a:t>
            </a:r>
            <a:r>
              <a:rPr sz="1200">
                <a:solidFill>
                  <a:srgbClr val="E8ECF4"/>
                </a:solidFill>
                <a:latin typeface="Segoe UI"/>
              </a:rPr>
              <a:t>Error accumulates — at 15 kg, the actual displacement is only 34% of expected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E17"/>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48640"/>
          </a:xfrm>
          <a:prstGeom prst="rect">
            <a:avLst/>
          </a:prstGeom>
          <a:noFill/>
        </p:spPr>
        <p:txBody>
          <a:bodyPr wrap="square">
            <a:spAutoFit/>
          </a:bodyPr>
          <a:lstStyle/>
          <a:p>
            <a:pPr algn="l">
              <a:defRPr sz="2400" b="1">
                <a:solidFill>
                  <a:srgbClr val="00D4FF"/>
                </a:solidFill>
                <a:latin typeface="Segoe UI"/>
              </a:defRPr>
            </a:pPr>
            <a:r>
              <a:t>10. Key Formulas Summary</a:t>
            </a:r>
          </a:p>
        </p:txBody>
      </p:sp>
      <p:sp>
        <p:nvSpPr>
          <p:cNvPr id="4" name="TextBox 3"/>
          <p:cNvSpPr txBox="1"/>
          <p:nvPr/>
        </p:nvSpPr>
        <p:spPr>
          <a:xfrm>
            <a:off x="457200" y="502920"/>
            <a:ext cx="9144000" cy="320040"/>
          </a:xfrm>
          <a:prstGeom prst="rect">
            <a:avLst/>
          </a:prstGeom>
          <a:noFill/>
        </p:spPr>
        <p:txBody>
          <a:bodyPr wrap="square">
            <a:spAutoFit/>
          </a:bodyPr>
          <a:lstStyle/>
          <a:p>
            <a:pPr algn="l">
              <a:defRPr sz="1100" b="0">
                <a:solidFill>
                  <a:srgbClr val="5A6478"/>
                </a:solidFill>
                <a:latin typeface="Segoe UI"/>
              </a:defRPr>
            </a:pPr>
            <a:r>
              <a:t>Complete mathematical reference</a:t>
            </a:r>
          </a:p>
        </p:txBody>
      </p:sp>
      <p:sp>
        <p:nvSpPr>
          <p:cNvPr id="5" name="Rounded Rectangle 4"/>
          <p:cNvSpPr/>
          <p:nvPr/>
        </p:nvSpPr>
        <p:spPr>
          <a:xfrm>
            <a:off x="457200" y="1005840"/>
            <a:ext cx="5577840" cy="173736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78992"/>
            <a:ext cx="5212080" cy="274320"/>
          </a:xfrm>
          <a:prstGeom prst="rect">
            <a:avLst/>
          </a:prstGeom>
          <a:noFill/>
        </p:spPr>
        <p:txBody>
          <a:bodyPr wrap="square">
            <a:spAutoFit/>
          </a:bodyPr>
          <a:lstStyle/>
          <a:p>
            <a:pPr algn="l">
              <a:defRPr sz="1300" b="1">
                <a:solidFill>
                  <a:srgbClr val="00D4FF"/>
                </a:solidFill>
                <a:latin typeface="Segoe UI"/>
              </a:defRPr>
            </a:pPr>
            <a:r>
              <a:t>Linear Displacement</a:t>
            </a:r>
          </a:p>
        </p:txBody>
      </p:sp>
      <p:sp>
        <p:nvSpPr>
          <p:cNvPr id="7" name="TextBox 6"/>
          <p:cNvSpPr txBox="1"/>
          <p:nvPr/>
        </p:nvSpPr>
        <p:spPr>
          <a:xfrm>
            <a:off x="640080" y="1389888"/>
            <a:ext cx="5212080" cy="365760"/>
          </a:xfrm>
          <a:prstGeom prst="rect">
            <a:avLst/>
          </a:prstGeom>
          <a:noFill/>
        </p:spPr>
        <p:txBody>
          <a:bodyPr wrap="square">
            <a:spAutoFit/>
          </a:bodyPr>
          <a:lstStyle/>
          <a:p>
            <a:pPr algn="l">
              <a:defRPr sz="1600" b="1">
                <a:solidFill>
                  <a:srgbClr val="E8ECF4"/>
                </a:solidFill>
                <a:latin typeface="Consolas"/>
              </a:defRPr>
            </a:pPr>
            <a:r>
              <a:t>D = (steps / PPR) × 2πr</a:t>
            </a:r>
          </a:p>
        </p:txBody>
      </p:sp>
      <p:sp>
        <p:nvSpPr>
          <p:cNvPr id="8" name="TextBox 7"/>
          <p:cNvSpPr txBox="1"/>
          <p:nvPr/>
        </p:nvSpPr>
        <p:spPr>
          <a:xfrm>
            <a:off x="640080" y="1828800"/>
            <a:ext cx="5212080" cy="822960"/>
          </a:xfrm>
          <a:prstGeom prst="rect">
            <a:avLst/>
          </a:prstGeom>
          <a:noFill/>
        </p:spPr>
        <p:txBody>
          <a:bodyPr wrap="square">
            <a:spAutoFit/>
          </a:bodyPr>
          <a:lstStyle/>
          <a:p>
            <a:pPr algn="l">
              <a:defRPr sz="1100" b="0">
                <a:solidFill>
                  <a:srgbClr val="8B95A8"/>
                </a:solidFill>
                <a:latin typeface="Segoe UI"/>
              </a:defRPr>
            </a:pPr>
            <a:r>
              <a:t>Converts step count to linear distance in meters.</a:t>
            </a:r>
            <a:br/>
            <a:r>
              <a:t>PPR = 200 pulses/rev, r = 0.02 m (pulley radius)</a:t>
            </a:r>
          </a:p>
        </p:txBody>
      </p:sp>
      <p:sp>
        <p:nvSpPr>
          <p:cNvPr id="9" name="Rounded Rectangle 8"/>
          <p:cNvSpPr/>
          <p:nvPr/>
        </p:nvSpPr>
        <p:spPr>
          <a:xfrm>
            <a:off x="6309360" y="1005840"/>
            <a:ext cx="5577840" cy="173736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078992"/>
            <a:ext cx="5212080" cy="274320"/>
          </a:xfrm>
          <a:prstGeom prst="rect">
            <a:avLst/>
          </a:prstGeom>
          <a:noFill/>
        </p:spPr>
        <p:txBody>
          <a:bodyPr wrap="square">
            <a:spAutoFit/>
          </a:bodyPr>
          <a:lstStyle/>
          <a:p>
            <a:pPr algn="l">
              <a:defRPr sz="1300" b="1">
                <a:solidFill>
                  <a:srgbClr val="FF9800"/>
                </a:solidFill>
                <a:latin typeface="Segoe UI"/>
              </a:defRPr>
            </a:pPr>
            <a:r>
              <a:t>Torque Required</a:t>
            </a:r>
          </a:p>
        </p:txBody>
      </p:sp>
      <p:sp>
        <p:nvSpPr>
          <p:cNvPr id="11" name="TextBox 10"/>
          <p:cNvSpPr txBox="1"/>
          <p:nvPr/>
        </p:nvSpPr>
        <p:spPr>
          <a:xfrm>
            <a:off x="6492240" y="1389888"/>
            <a:ext cx="5212080" cy="365760"/>
          </a:xfrm>
          <a:prstGeom prst="rect">
            <a:avLst/>
          </a:prstGeom>
          <a:noFill/>
        </p:spPr>
        <p:txBody>
          <a:bodyPr wrap="square">
            <a:spAutoFit/>
          </a:bodyPr>
          <a:lstStyle/>
          <a:p>
            <a:pPr algn="l">
              <a:defRPr sz="1600" b="1">
                <a:solidFill>
                  <a:srgbClr val="E8ECF4"/>
                </a:solidFill>
                <a:latin typeface="Consolas"/>
              </a:defRPr>
            </a:pPr>
            <a:r>
              <a:t>T_req = m × g × r</a:t>
            </a:r>
          </a:p>
        </p:txBody>
      </p:sp>
      <p:sp>
        <p:nvSpPr>
          <p:cNvPr id="12" name="TextBox 11"/>
          <p:cNvSpPr txBox="1"/>
          <p:nvPr/>
        </p:nvSpPr>
        <p:spPr>
          <a:xfrm>
            <a:off x="6492240" y="1828800"/>
            <a:ext cx="5212080" cy="822960"/>
          </a:xfrm>
          <a:prstGeom prst="rect">
            <a:avLst/>
          </a:prstGeom>
          <a:noFill/>
        </p:spPr>
        <p:txBody>
          <a:bodyPr wrap="square">
            <a:spAutoFit/>
          </a:bodyPr>
          <a:lstStyle/>
          <a:p>
            <a:pPr algn="l">
              <a:defRPr sz="1100" b="0">
                <a:solidFill>
                  <a:srgbClr val="8B95A8"/>
                </a:solidFill>
                <a:latin typeface="Segoe UI"/>
              </a:defRPr>
            </a:pPr>
            <a:r>
              <a:t>Gravitational torque from hanging load.</a:t>
            </a:r>
            <a:br/>
            <a:r>
              <a:t>m = mass (kg), g = 9.81 m/s², r = 0.02 m</a:t>
            </a:r>
          </a:p>
        </p:txBody>
      </p:sp>
      <p:sp>
        <p:nvSpPr>
          <p:cNvPr id="13" name="Rounded Rectangle 12"/>
          <p:cNvSpPr/>
          <p:nvPr/>
        </p:nvSpPr>
        <p:spPr>
          <a:xfrm>
            <a:off x="457200" y="2926080"/>
            <a:ext cx="5577840" cy="173736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999232"/>
            <a:ext cx="5212080" cy="274320"/>
          </a:xfrm>
          <a:prstGeom prst="rect">
            <a:avLst/>
          </a:prstGeom>
          <a:noFill/>
        </p:spPr>
        <p:txBody>
          <a:bodyPr wrap="square">
            <a:spAutoFit/>
          </a:bodyPr>
          <a:lstStyle/>
          <a:p>
            <a:pPr algn="l">
              <a:defRPr sz="1300" b="1">
                <a:solidFill>
                  <a:srgbClr val="FF4060"/>
                </a:solidFill>
                <a:latin typeface="Segoe UI"/>
              </a:defRPr>
            </a:pPr>
            <a:r>
              <a:t>Step Loss Ratio</a:t>
            </a:r>
          </a:p>
        </p:txBody>
      </p:sp>
      <p:sp>
        <p:nvSpPr>
          <p:cNvPr id="15" name="TextBox 14"/>
          <p:cNvSpPr txBox="1"/>
          <p:nvPr/>
        </p:nvSpPr>
        <p:spPr>
          <a:xfrm>
            <a:off x="640080" y="3310128"/>
            <a:ext cx="5212080" cy="365760"/>
          </a:xfrm>
          <a:prstGeom prst="rect">
            <a:avLst/>
          </a:prstGeom>
          <a:noFill/>
        </p:spPr>
        <p:txBody>
          <a:bodyPr wrap="square">
            <a:spAutoFit/>
          </a:bodyPr>
          <a:lstStyle/>
          <a:p>
            <a:pPr algn="l">
              <a:defRPr sz="1600" b="1">
                <a:solidFill>
                  <a:srgbClr val="E8ECF4"/>
                </a:solidFill>
                <a:latin typeface="Consolas"/>
              </a:defRPr>
            </a:pPr>
            <a:r>
              <a:t>ratio = T_avail / T_req</a:t>
            </a:r>
          </a:p>
        </p:txBody>
      </p:sp>
      <p:sp>
        <p:nvSpPr>
          <p:cNvPr id="16" name="TextBox 15"/>
          <p:cNvSpPr txBox="1"/>
          <p:nvPr/>
        </p:nvSpPr>
        <p:spPr>
          <a:xfrm>
            <a:off x="640080" y="3749040"/>
            <a:ext cx="5212080" cy="822960"/>
          </a:xfrm>
          <a:prstGeom prst="rect">
            <a:avLst/>
          </a:prstGeom>
          <a:noFill/>
        </p:spPr>
        <p:txBody>
          <a:bodyPr wrap="square">
            <a:spAutoFit/>
          </a:bodyPr>
          <a:lstStyle/>
          <a:p>
            <a:pPr algn="l">
              <a:defRPr sz="1100" b="0">
                <a:solidFill>
                  <a:srgbClr val="8B95A8"/>
                </a:solidFill>
                <a:latin typeface="Segoe UI"/>
              </a:defRPr>
            </a:pPr>
            <a:r>
              <a:t>Fraction of commanded steps actually executed.</a:t>
            </a:r>
            <a:br/>
            <a:r>
              <a:t>ratio ≥ 1: no loss, ratio &lt; 1: step loss occurs</a:t>
            </a:r>
          </a:p>
        </p:txBody>
      </p:sp>
      <p:sp>
        <p:nvSpPr>
          <p:cNvPr id="17" name="Rounded Rectangle 16"/>
          <p:cNvSpPr/>
          <p:nvPr/>
        </p:nvSpPr>
        <p:spPr>
          <a:xfrm>
            <a:off x="6309360" y="2926080"/>
            <a:ext cx="5577840" cy="173736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2999232"/>
            <a:ext cx="5212080" cy="274320"/>
          </a:xfrm>
          <a:prstGeom prst="rect">
            <a:avLst/>
          </a:prstGeom>
          <a:noFill/>
        </p:spPr>
        <p:txBody>
          <a:bodyPr wrap="square">
            <a:spAutoFit/>
          </a:bodyPr>
          <a:lstStyle/>
          <a:p>
            <a:pPr algn="l">
              <a:defRPr sz="1300" b="1">
                <a:solidFill>
                  <a:srgbClr val="7B2FF7"/>
                </a:solidFill>
                <a:latin typeface="Segoe UI"/>
              </a:defRPr>
            </a:pPr>
            <a:r>
              <a:t>Actual Steps</a:t>
            </a:r>
          </a:p>
        </p:txBody>
      </p:sp>
      <p:sp>
        <p:nvSpPr>
          <p:cNvPr id="19" name="TextBox 18"/>
          <p:cNvSpPr txBox="1"/>
          <p:nvPr/>
        </p:nvSpPr>
        <p:spPr>
          <a:xfrm>
            <a:off x="6492240" y="3310128"/>
            <a:ext cx="5212080" cy="365760"/>
          </a:xfrm>
          <a:prstGeom prst="rect">
            <a:avLst/>
          </a:prstGeom>
          <a:noFill/>
        </p:spPr>
        <p:txBody>
          <a:bodyPr wrap="square">
            <a:spAutoFit/>
          </a:bodyPr>
          <a:lstStyle/>
          <a:p>
            <a:pPr algn="l">
              <a:defRPr sz="1600" b="1">
                <a:solidFill>
                  <a:srgbClr val="E8ECF4"/>
                </a:solidFill>
                <a:latin typeface="Consolas"/>
              </a:defRPr>
            </a:pPr>
            <a:r>
              <a:t>actual = commanded × min(1, ratio)</a:t>
            </a:r>
          </a:p>
        </p:txBody>
      </p:sp>
      <p:sp>
        <p:nvSpPr>
          <p:cNvPr id="20" name="TextBox 19"/>
          <p:cNvSpPr txBox="1"/>
          <p:nvPr/>
        </p:nvSpPr>
        <p:spPr>
          <a:xfrm>
            <a:off x="6492240" y="3749040"/>
            <a:ext cx="5212080" cy="822960"/>
          </a:xfrm>
          <a:prstGeom prst="rect">
            <a:avLst/>
          </a:prstGeom>
          <a:noFill/>
        </p:spPr>
        <p:txBody>
          <a:bodyPr wrap="square">
            <a:spAutoFit/>
          </a:bodyPr>
          <a:lstStyle/>
          <a:p>
            <a:pPr algn="l">
              <a:defRPr sz="1100" b="0">
                <a:solidFill>
                  <a:srgbClr val="8B95A8"/>
                </a:solidFill>
                <a:latin typeface="Segoe UI"/>
              </a:defRPr>
            </a:pPr>
            <a:r>
              <a:t>Number of steps the motor can physically execute.</a:t>
            </a:r>
            <a:br/>
            <a:r>
              <a:t>Steps missed = commanded − actual</a:t>
            </a:r>
          </a:p>
        </p:txBody>
      </p:sp>
      <p:sp>
        <p:nvSpPr>
          <p:cNvPr id="21" name="Rounded Rectangle 20"/>
          <p:cNvSpPr/>
          <p:nvPr/>
        </p:nvSpPr>
        <p:spPr>
          <a:xfrm>
            <a:off x="457200" y="4846320"/>
            <a:ext cx="5577840" cy="173736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919472"/>
            <a:ext cx="5212080" cy="274320"/>
          </a:xfrm>
          <a:prstGeom prst="rect">
            <a:avLst/>
          </a:prstGeom>
          <a:noFill/>
        </p:spPr>
        <p:txBody>
          <a:bodyPr wrap="square">
            <a:spAutoFit/>
          </a:bodyPr>
          <a:lstStyle/>
          <a:p>
            <a:pPr algn="l">
              <a:defRPr sz="1300" b="1">
                <a:solidFill>
                  <a:srgbClr val="00E676"/>
                </a:solidFill>
                <a:latin typeface="Segoe UI"/>
              </a:defRPr>
            </a:pPr>
            <a:r>
              <a:t>Max Safe Load</a:t>
            </a:r>
          </a:p>
        </p:txBody>
      </p:sp>
      <p:sp>
        <p:nvSpPr>
          <p:cNvPr id="23" name="TextBox 22"/>
          <p:cNvSpPr txBox="1"/>
          <p:nvPr/>
        </p:nvSpPr>
        <p:spPr>
          <a:xfrm>
            <a:off x="640080" y="5230368"/>
            <a:ext cx="5212080" cy="365760"/>
          </a:xfrm>
          <a:prstGeom prst="rect">
            <a:avLst/>
          </a:prstGeom>
          <a:noFill/>
        </p:spPr>
        <p:txBody>
          <a:bodyPr wrap="square">
            <a:spAutoFit/>
          </a:bodyPr>
          <a:lstStyle/>
          <a:p>
            <a:pPr algn="l">
              <a:defRPr sz="1600" b="1">
                <a:solidFill>
                  <a:srgbClr val="E8ECF4"/>
                </a:solidFill>
                <a:latin typeface="Consolas"/>
              </a:defRPr>
            </a:pPr>
            <a:r>
              <a:t>m_max = T_avail / (g × r)</a:t>
            </a:r>
          </a:p>
        </p:txBody>
      </p:sp>
      <p:sp>
        <p:nvSpPr>
          <p:cNvPr id="24" name="TextBox 23"/>
          <p:cNvSpPr txBox="1"/>
          <p:nvPr/>
        </p:nvSpPr>
        <p:spPr>
          <a:xfrm>
            <a:off x="640080" y="5669280"/>
            <a:ext cx="5212080" cy="822960"/>
          </a:xfrm>
          <a:prstGeom prst="rect">
            <a:avLst/>
          </a:prstGeom>
          <a:noFill/>
        </p:spPr>
        <p:txBody>
          <a:bodyPr wrap="square">
            <a:spAutoFit/>
          </a:bodyPr>
          <a:lstStyle/>
          <a:p>
            <a:pPr algn="l">
              <a:defRPr sz="1100" b="0">
                <a:solidFill>
                  <a:srgbClr val="8B95A8"/>
                </a:solidFill>
                <a:latin typeface="Segoe UI"/>
              </a:defRPr>
            </a:pPr>
            <a:r>
              <a:t>Maximum load before step loss begins.</a:t>
            </a:r>
            <a:br/>
            <a:r>
              <a:t>For this sim: 1.0/(9.81×0.02) = 5.097 kg</a:t>
            </a:r>
          </a:p>
        </p:txBody>
      </p:sp>
      <p:sp>
        <p:nvSpPr>
          <p:cNvPr id="25" name="Rounded Rectangle 24"/>
          <p:cNvSpPr/>
          <p:nvPr/>
        </p:nvSpPr>
        <p:spPr>
          <a:xfrm>
            <a:off x="6309360" y="4846320"/>
            <a:ext cx="5577840" cy="173736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4919472"/>
            <a:ext cx="5212080" cy="274320"/>
          </a:xfrm>
          <a:prstGeom prst="rect">
            <a:avLst/>
          </a:prstGeom>
          <a:noFill/>
        </p:spPr>
        <p:txBody>
          <a:bodyPr wrap="square">
            <a:spAutoFit/>
          </a:bodyPr>
          <a:lstStyle/>
          <a:p>
            <a:pPr algn="l">
              <a:defRPr sz="1300" b="1">
                <a:solidFill>
                  <a:srgbClr val="00D4FF"/>
                </a:solidFill>
                <a:latin typeface="Segoe UI"/>
              </a:defRPr>
            </a:pPr>
            <a:r>
              <a:t>Step Rate</a:t>
            </a:r>
          </a:p>
        </p:txBody>
      </p:sp>
      <p:sp>
        <p:nvSpPr>
          <p:cNvPr id="27" name="TextBox 26"/>
          <p:cNvSpPr txBox="1"/>
          <p:nvPr/>
        </p:nvSpPr>
        <p:spPr>
          <a:xfrm>
            <a:off x="6492240" y="5230368"/>
            <a:ext cx="5212080" cy="365760"/>
          </a:xfrm>
          <a:prstGeom prst="rect">
            <a:avLst/>
          </a:prstGeom>
          <a:noFill/>
        </p:spPr>
        <p:txBody>
          <a:bodyPr wrap="square">
            <a:spAutoFit/>
          </a:bodyPr>
          <a:lstStyle/>
          <a:p>
            <a:pPr algn="l">
              <a:defRPr sz="1600" b="1">
                <a:solidFill>
                  <a:srgbClr val="E8ECF4"/>
                </a:solidFill>
                <a:latin typeface="Consolas"/>
              </a:defRPr>
            </a:pPr>
            <a:r>
              <a:t>f = (RPM / 60) × PPR</a:t>
            </a:r>
          </a:p>
        </p:txBody>
      </p:sp>
      <p:sp>
        <p:nvSpPr>
          <p:cNvPr id="28" name="TextBox 27"/>
          <p:cNvSpPr txBox="1"/>
          <p:nvPr/>
        </p:nvSpPr>
        <p:spPr>
          <a:xfrm>
            <a:off x="6492240" y="5669280"/>
            <a:ext cx="5212080" cy="822960"/>
          </a:xfrm>
          <a:prstGeom prst="rect">
            <a:avLst/>
          </a:prstGeom>
          <a:noFill/>
        </p:spPr>
        <p:txBody>
          <a:bodyPr wrap="square">
            <a:spAutoFit/>
          </a:bodyPr>
          <a:lstStyle/>
          <a:p>
            <a:pPr algn="l">
              <a:defRPr sz="1100" b="0">
                <a:solidFill>
                  <a:srgbClr val="8B95A8"/>
                </a:solidFill>
                <a:latin typeface="Segoe UI"/>
              </a:defRPr>
            </a:pPr>
            <a:r>
              <a:t>Steps per second at given RPM.</a:t>
            </a:r>
            <a:br/>
            <a:r>
              <a:t>At 60 RPM: (60/60)*200 = 200 steps/sec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E17"/>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48640"/>
          </a:xfrm>
          <a:prstGeom prst="rect">
            <a:avLst/>
          </a:prstGeom>
          <a:noFill/>
        </p:spPr>
        <p:txBody>
          <a:bodyPr wrap="square">
            <a:spAutoFit/>
          </a:bodyPr>
          <a:lstStyle/>
          <a:p>
            <a:pPr algn="l">
              <a:defRPr sz="2400" b="1">
                <a:solidFill>
                  <a:srgbClr val="00D4FF"/>
                </a:solidFill>
                <a:latin typeface="Segoe UI"/>
              </a:defRPr>
            </a:pPr>
            <a:r>
              <a:t>11. Applications &amp; Industry Use</a:t>
            </a:r>
          </a:p>
        </p:txBody>
      </p:sp>
      <p:sp>
        <p:nvSpPr>
          <p:cNvPr id="4" name="TextBox 3"/>
          <p:cNvSpPr txBox="1"/>
          <p:nvPr/>
        </p:nvSpPr>
        <p:spPr>
          <a:xfrm>
            <a:off x="457200" y="502920"/>
            <a:ext cx="9144000" cy="320040"/>
          </a:xfrm>
          <a:prstGeom prst="rect">
            <a:avLst/>
          </a:prstGeom>
          <a:noFill/>
        </p:spPr>
        <p:txBody>
          <a:bodyPr wrap="square">
            <a:spAutoFit/>
          </a:bodyPr>
          <a:lstStyle/>
          <a:p>
            <a:pPr algn="l">
              <a:defRPr sz="1100" b="0">
                <a:solidFill>
                  <a:srgbClr val="5A6478"/>
                </a:solidFill>
                <a:latin typeface="Segoe UI"/>
              </a:defRPr>
            </a:pPr>
            <a:r>
              <a:t>Where stepper motors and step loss awareness matter</a:t>
            </a:r>
          </a:p>
        </p:txBody>
      </p:sp>
      <p:sp>
        <p:nvSpPr>
          <p:cNvPr id="5" name="Rounded Rectangle 4"/>
          <p:cNvSpPr/>
          <p:nvPr/>
        </p:nvSpPr>
        <p:spPr>
          <a:xfrm>
            <a:off x="457200" y="1005840"/>
            <a:ext cx="3566160" cy="265176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15568"/>
            <a:ext cx="3291840" cy="320040"/>
          </a:xfrm>
          <a:prstGeom prst="rect">
            <a:avLst/>
          </a:prstGeom>
          <a:noFill/>
        </p:spPr>
        <p:txBody>
          <a:bodyPr wrap="square">
            <a:spAutoFit/>
          </a:bodyPr>
          <a:lstStyle/>
          <a:p>
            <a:pPr algn="l">
              <a:defRPr sz="1500" b="1">
                <a:solidFill>
                  <a:srgbClr val="00D4FF"/>
                </a:solidFill>
                <a:latin typeface="Segoe UI"/>
              </a:defRPr>
            </a:pPr>
            <a:r>
              <a:t>CNC Machines</a:t>
            </a:r>
          </a:p>
        </p:txBody>
      </p:sp>
      <p:sp>
        <p:nvSpPr>
          <p:cNvPr id="7" name="TextBox 6"/>
          <p:cNvSpPr txBox="1"/>
          <p:nvPr/>
        </p:nvSpPr>
        <p:spPr>
          <a:xfrm>
            <a:off x="594360" y="1508760"/>
            <a:ext cx="3291840" cy="2011680"/>
          </a:xfrm>
          <a:prstGeom prst="rect">
            <a:avLst/>
          </a:prstGeom>
          <a:noFill/>
        </p:spPr>
        <p:txBody>
          <a:bodyPr wrap="square">
            <a:spAutoFit/>
          </a:bodyPr>
          <a:lstStyle/>
          <a:p>
            <a:pPr algn="l">
              <a:defRPr sz="1200" b="0">
                <a:solidFill>
                  <a:srgbClr val="8B95A8"/>
                </a:solidFill>
                <a:latin typeface="Segoe UI"/>
              </a:defRPr>
            </a:pPr>
            <a:r>
              <a:t>Stepper motors drive X/Y/Z axes. Step loss causes dimensional errors in machined parts. Load monitoring is critical.</a:t>
            </a:r>
          </a:p>
        </p:txBody>
      </p:sp>
      <p:sp>
        <p:nvSpPr>
          <p:cNvPr id="8" name="Rounded Rectangle 7"/>
          <p:cNvSpPr/>
          <p:nvPr/>
        </p:nvSpPr>
        <p:spPr>
          <a:xfrm>
            <a:off x="4297680" y="1005840"/>
            <a:ext cx="3566160" cy="265176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34840" y="1115568"/>
            <a:ext cx="3291840" cy="320040"/>
          </a:xfrm>
          <a:prstGeom prst="rect">
            <a:avLst/>
          </a:prstGeom>
          <a:noFill/>
        </p:spPr>
        <p:txBody>
          <a:bodyPr wrap="square">
            <a:spAutoFit/>
          </a:bodyPr>
          <a:lstStyle/>
          <a:p>
            <a:pPr algn="l">
              <a:defRPr sz="1500" b="1">
                <a:solidFill>
                  <a:srgbClr val="00E676"/>
                </a:solidFill>
                <a:latin typeface="Segoe UI"/>
              </a:defRPr>
            </a:pPr>
            <a:r>
              <a:t>3D Printers</a:t>
            </a:r>
          </a:p>
        </p:txBody>
      </p:sp>
      <p:sp>
        <p:nvSpPr>
          <p:cNvPr id="10" name="TextBox 9"/>
          <p:cNvSpPr txBox="1"/>
          <p:nvPr/>
        </p:nvSpPr>
        <p:spPr>
          <a:xfrm>
            <a:off x="4434840" y="1508760"/>
            <a:ext cx="3291840" cy="2011680"/>
          </a:xfrm>
          <a:prstGeom prst="rect">
            <a:avLst/>
          </a:prstGeom>
          <a:noFill/>
        </p:spPr>
        <p:txBody>
          <a:bodyPr wrap="square">
            <a:spAutoFit/>
          </a:bodyPr>
          <a:lstStyle/>
          <a:p>
            <a:pPr algn="l">
              <a:defRPr sz="1200" b="0">
                <a:solidFill>
                  <a:srgbClr val="8B95A8"/>
                </a:solidFill>
                <a:latin typeface="Segoe UI"/>
              </a:defRPr>
            </a:pPr>
            <a:r>
              <a:t>FDM printers use steppers for extrusion and positioning. Step loss creates layer shifts and print failures.</a:t>
            </a:r>
          </a:p>
        </p:txBody>
      </p:sp>
      <p:sp>
        <p:nvSpPr>
          <p:cNvPr id="11" name="Rounded Rectangle 10"/>
          <p:cNvSpPr/>
          <p:nvPr/>
        </p:nvSpPr>
        <p:spPr>
          <a:xfrm>
            <a:off x="8138160" y="1005840"/>
            <a:ext cx="3566160" cy="265176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115568"/>
            <a:ext cx="3291840" cy="320040"/>
          </a:xfrm>
          <a:prstGeom prst="rect">
            <a:avLst/>
          </a:prstGeom>
          <a:noFill/>
        </p:spPr>
        <p:txBody>
          <a:bodyPr wrap="square">
            <a:spAutoFit/>
          </a:bodyPr>
          <a:lstStyle/>
          <a:p>
            <a:pPr algn="l">
              <a:defRPr sz="1500" b="1">
                <a:solidFill>
                  <a:srgbClr val="FF9800"/>
                </a:solidFill>
                <a:latin typeface="Segoe UI"/>
              </a:defRPr>
            </a:pPr>
            <a:r>
              <a:t>Robotics</a:t>
            </a:r>
          </a:p>
        </p:txBody>
      </p:sp>
      <p:sp>
        <p:nvSpPr>
          <p:cNvPr id="13" name="TextBox 12"/>
          <p:cNvSpPr txBox="1"/>
          <p:nvPr/>
        </p:nvSpPr>
        <p:spPr>
          <a:xfrm>
            <a:off x="8275320" y="1508760"/>
            <a:ext cx="3291840" cy="2011680"/>
          </a:xfrm>
          <a:prstGeom prst="rect">
            <a:avLst/>
          </a:prstGeom>
          <a:noFill/>
        </p:spPr>
        <p:txBody>
          <a:bodyPr wrap="square">
            <a:spAutoFit/>
          </a:bodyPr>
          <a:lstStyle/>
          <a:p>
            <a:pPr algn="l">
              <a:defRPr sz="1200" b="0">
                <a:solidFill>
                  <a:srgbClr val="8B95A8"/>
                </a:solidFill>
                <a:latin typeface="Segoe UI"/>
              </a:defRPr>
            </a:pPr>
            <a:r>
              <a:t>Robotic arms and mobile robots use steppers for joint control. Step loss leads to positioning errors and collisions.</a:t>
            </a:r>
          </a:p>
        </p:txBody>
      </p:sp>
      <p:sp>
        <p:nvSpPr>
          <p:cNvPr id="14" name="Rounded Rectangle 13"/>
          <p:cNvSpPr/>
          <p:nvPr/>
        </p:nvSpPr>
        <p:spPr>
          <a:xfrm>
            <a:off x="457200" y="3931920"/>
            <a:ext cx="3566160" cy="265176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041648"/>
            <a:ext cx="3291840" cy="320040"/>
          </a:xfrm>
          <a:prstGeom prst="rect">
            <a:avLst/>
          </a:prstGeom>
          <a:noFill/>
        </p:spPr>
        <p:txBody>
          <a:bodyPr wrap="square">
            <a:spAutoFit/>
          </a:bodyPr>
          <a:lstStyle/>
          <a:p>
            <a:pPr algn="l">
              <a:defRPr sz="1500" b="1">
                <a:solidFill>
                  <a:srgbClr val="FF4060"/>
                </a:solidFill>
                <a:latin typeface="Segoe UI"/>
              </a:defRPr>
            </a:pPr>
            <a:r>
              <a:t>Medical Devices</a:t>
            </a:r>
          </a:p>
        </p:txBody>
      </p:sp>
      <p:sp>
        <p:nvSpPr>
          <p:cNvPr id="16" name="TextBox 15"/>
          <p:cNvSpPr txBox="1"/>
          <p:nvPr/>
        </p:nvSpPr>
        <p:spPr>
          <a:xfrm>
            <a:off x="594360" y="4434840"/>
            <a:ext cx="3291840" cy="2011680"/>
          </a:xfrm>
          <a:prstGeom prst="rect">
            <a:avLst/>
          </a:prstGeom>
          <a:noFill/>
        </p:spPr>
        <p:txBody>
          <a:bodyPr wrap="square">
            <a:spAutoFit/>
          </a:bodyPr>
          <a:lstStyle/>
          <a:p>
            <a:pPr algn="l">
              <a:defRPr sz="1200" b="0">
                <a:solidFill>
                  <a:srgbClr val="8B95A8"/>
                </a:solidFill>
                <a:latin typeface="Segoe UI"/>
              </a:defRPr>
            </a:pPr>
            <a:r>
              <a:t>Infusion pumps and diagnostic equipment require precise dosing. Step loss can have critical safety implications.</a:t>
            </a:r>
          </a:p>
        </p:txBody>
      </p:sp>
      <p:sp>
        <p:nvSpPr>
          <p:cNvPr id="17" name="Rounded Rectangle 16"/>
          <p:cNvSpPr/>
          <p:nvPr/>
        </p:nvSpPr>
        <p:spPr>
          <a:xfrm>
            <a:off x="4297680" y="3931920"/>
            <a:ext cx="3566160" cy="265176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34840" y="4041648"/>
            <a:ext cx="3291840" cy="320040"/>
          </a:xfrm>
          <a:prstGeom prst="rect">
            <a:avLst/>
          </a:prstGeom>
          <a:noFill/>
        </p:spPr>
        <p:txBody>
          <a:bodyPr wrap="square">
            <a:spAutoFit/>
          </a:bodyPr>
          <a:lstStyle/>
          <a:p>
            <a:pPr algn="l">
              <a:defRPr sz="1500" b="1">
                <a:solidFill>
                  <a:srgbClr val="7B2FF7"/>
                </a:solidFill>
                <a:latin typeface="Segoe UI"/>
              </a:defRPr>
            </a:pPr>
            <a:r>
              <a:t>Textile Machines</a:t>
            </a:r>
          </a:p>
        </p:txBody>
      </p:sp>
      <p:sp>
        <p:nvSpPr>
          <p:cNvPr id="19" name="TextBox 18"/>
          <p:cNvSpPr txBox="1"/>
          <p:nvPr/>
        </p:nvSpPr>
        <p:spPr>
          <a:xfrm>
            <a:off x="4434840" y="4434840"/>
            <a:ext cx="3291840" cy="2011680"/>
          </a:xfrm>
          <a:prstGeom prst="rect">
            <a:avLst/>
          </a:prstGeom>
          <a:noFill/>
        </p:spPr>
        <p:txBody>
          <a:bodyPr wrap="square">
            <a:spAutoFit/>
          </a:bodyPr>
          <a:lstStyle/>
          <a:p>
            <a:pPr algn="l">
              <a:defRPr sz="1200" b="0">
                <a:solidFill>
                  <a:srgbClr val="8B95A8"/>
                </a:solidFill>
                <a:latin typeface="Segoe UI"/>
              </a:defRPr>
            </a:pPr>
            <a:r>
              <a:t>Sewing and embroidery machines use steppers for pattern accuracy. Step loss ruins the production output.</a:t>
            </a:r>
          </a:p>
        </p:txBody>
      </p:sp>
      <p:sp>
        <p:nvSpPr>
          <p:cNvPr id="20" name="Rounded Rectangle 19"/>
          <p:cNvSpPr/>
          <p:nvPr/>
        </p:nvSpPr>
        <p:spPr>
          <a:xfrm>
            <a:off x="8138160" y="3931920"/>
            <a:ext cx="3566160" cy="265176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4041648"/>
            <a:ext cx="3291840" cy="320040"/>
          </a:xfrm>
          <a:prstGeom prst="rect">
            <a:avLst/>
          </a:prstGeom>
          <a:noFill/>
        </p:spPr>
        <p:txBody>
          <a:bodyPr wrap="square">
            <a:spAutoFit/>
          </a:bodyPr>
          <a:lstStyle/>
          <a:p>
            <a:pPr algn="l">
              <a:defRPr sz="1500" b="1">
                <a:solidFill>
                  <a:srgbClr val="00D4FF"/>
                </a:solidFill>
                <a:latin typeface="Segoe UI"/>
              </a:defRPr>
            </a:pPr>
            <a:r>
              <a:t>Astronomy</a:t>
            </a:r>
          </a:p>
        </p:txBody>
      </p:sp>
      <p:sp>
        <p:nvSpPr>
          <p:cNvPr id="22" name="TextBox 21"/>
          <p:cNvSpPr txBox="1"/>
          <p:nvPr/>
        </p:nvSpPr>
        <p:spPr>
          <a:xfrm>
            <a:off x="8275320" y="4434840"/>
            <a:ext cx="3291840" cy="2011680"/>
          </a:xfrm>
          <a:prstGeom prst="rect">
            <a:avLst/>
          </a:prstGeom>
          <a:noFill/>
        </p:spPr>
        <p:txBody>
          <a:bodyPr wrap="square">
            <a:spAutoFit/>
          </a:bodyPr>
          <a:lstStyle/>
          <a:p>
            <a:pPr algn="l">
              <a:defRPr sz="1200" b="0">
                <a:solidFill>
                  <a:srgbClr val="8B95A8"/>
                </a:solidFill>
                <a:latin typeface="Segoe UI"/>
              </a:defRPr>
            </a:pPr>
            <a:r>
              <a:t>Telescope mounts use steppers for star tracking. Even 1 missed step causes tracking errors over long exposures.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E17"/>
        </a:solidFill>
        <a:effectLst/>
      </p:bgPr>
    </p:bg>
    <p:spTree>
      <p:nvGrpSpPr>
        <p:cNvPr id="1" name=""/>
        <p:cNvGrpSpPr/>
        <p:nvPr/>
      </p:nvGrpSpPr>
      <p:grpSpPr/>
      <p:sp>
        <p:nvSpPr>
          <p:cNvPr id="2" name="Rounded Rectangle 1"/>
          <p:cNvSpPr/>
          <p:nvPr/>
        </p:nvSpPr>
        <p:spPr>
          <a:xfrm>
            <a:off x="0" y="0"/>
            <a:ext cx="12188952" cy="77724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315200" cy="548640"/>
          </a:xfrm>
          <a:prstGeom prst="rect">
            <a:avLst/>
          </a:prstGeom>
          <a:noFill/>
        </p:spPr>
        <p:txBody>
          <a:bodyPr wrap="square">
            <a:spAutoFit/>
          </a:bodyPr>
          <a:lstStyle/>
          <a:p>
            <a:pPr algn="l">
              <a:defRPr sz="2400" b="1">
                <a:solidFill>
                  <a:srgbClr val="00D4FF"/>
                </a:solidFill>
                <a:latin typeface="Segoe UI"/>
              </a:defRPr>
            </a:pPr>
            <a:r>
              <a:t>12. Conclusion &amp; Learning Outcomes</a:t>
            </a:r>
          </a:p>
        </p:txBody>
      </p:sp>
      <p:sp>
        <p:nvSpPr>
          <p:cNvPr id="4" name="Rounded Rectangle 3"/>
          <p:cNvSpPr/>
          <p:nvPr/>
        </p:nvSpPr>
        <p:spPr>
          <a:xfrm>
            <a:off x="457200" y="1005840"/>
            <a:ext cx="5486400" cy="365760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0"/>
            <a:ext cx="5120640" cy="320040"/>
          </a:xfrm>
          <a:prstGeom prst="rect">
            <a:avLst/>
          </a:prstGeom>
          <a:noFill/>
        </p:spPr>
        <p:txBody>
          <a:bodyPr wrap="square">
            <a:spAutoFit/>
          </a:bodyPr>
          <a:lstStyle/>
          <a:p>
            <a:pPr algn="l">
              <a:defRPr sz="1600" b="1">
                <a:solidFill>
                  <a:srgbClr val="00E676"/>
                </a:solidFill>
                <a:latin typeface="Segoe UI"/>
              </a:defRPr>
            </a:pPr>
            <a:r>
              <a:t>What You Learned</a:t>
            </a:r>
          </a:p>
        </p:txBody>
      </p:sp>
      <p:sp>
        <p:nvSpPr>
          <p:cNvPr id="6" name="TextBox 5"/>
          <p:cNvSpPr txBox="1"/>
          <p:nvPr/>
        </p:nvSpPr>
        <p:spPr>
          <a:xfrm>
            <a:off x="640080" y="1508760"/>
            <a:ext cx="5120640" cy="2743200"/>
          </a:xfrm>
          <a:prstGeom prst="rect">
            <a:avLst/>
          </a:prstGeom>
          <a:noFill/>
        </p:spPr>
        <p:txBody>
          <a:bodyPr wrap="square">
            <a:spAutoFit/>
          </a:bodyPr>
          <a:lstStyle/>
          <a:p>
            <a:pPr>
              <a:spcAft>
                <a:spcPts val="600"/>
              </a:spcAft>
            </a:pPr>
            <a:r>
              <a:rPr sz="1200" b="1">
                <a:solidFill>
                  <a:srgbClr val="00E676"/>
                </a:solidFill>
                <a:latin typeface="Consolas"/>
              </a:rPr>
              <a:t>✓  </a:t>
            </a:r>
            <a:r>
              <a:rPr sz="1200">
                <a:solidFill>
                  <a:srgbClr val="E8ECF4"/>
                </a:solidFill>
                <a:latin typeface="Segoe UI"/>
              </a:rPr>
              <a:t>Open-loop stepper motors assume perfect step execution</a:t>
            </a:r>
          </a:p>
          <a:p>
            <a:pPr>
              <a:spcAft>
                <a:spcPts val="600"/>
              </a:spcAft>
            </a:pPr>
            <a:r>
              <a:rPr sz="1200" b="1">
                <a:solidFill>
                  <a:srgbClr val="00E676"/>
                </a:solidFill>
                <a:latin typeface="Consolas"/>
              </a:rPr>
              <a:t>✓  </a:t>
            </a:r>
            <a:r>
              <a:rPr sz="1200">
                <a:solidFill>
                  <a:srgbClr val="E8ECF4"/>
                </a:solidFill>
                <a:latin typeface="Segoe UI"/>
              </a:rPr>
              <a:t>Step loss occurs when load torque exceeds motor torque</a:t>
            </a:r>
          </a:p>
          <a:p>
            <a:pPr>
              <a:spcAft>
                <a:spcPts val="600"/>
              </a:spcAft>
            </a:pPr>
            <a:r>
              <a:rPr sz="1200" b="1">
                <a:solidFill>
                  <a:srgbClr val="00E676"/>
                </a:solidFill>
                <a:latin typeface="Consolas"/>
              </a:rPr>
              <a:t>✓  </a:t>
            </a:r>
            <a:r>
              <a:rPr sz="1200">
                <a:solidFill>
                  <a:srgbClr val="E8ECF4"/>
                </a:solidFill>
                <a:latin typeface="Segoe UI"/>
              </a:rPr>
              <a:t>The error is proportional to the overload ratio</a:t>
            </a:r>
          </a:p>
          <a:p>
            <a:pPr>
              <a:spcAft>
                <a:spcPts val="600"/>
              </a:spcAft>
            </a:pPr>
            <a:r>
              <a:rPr sz="1200" b="1">
                <a:solidFill>
                  <a:srgbClr val="00E676"/>
                </a:solidFill>
                <a:latin typeface="Consolas"/>
              </a:rPr>
              <a:t>✓  </a:t>
            </a:r>
            <a:r>
              <a:rPr sz="1200">
                <a:solidFill>
                  <a:srgbClr val="E8ECF4"/>
                </a:solidFill>
                <a:latin typeface="Segoe UI"/>
              </a:rPr>
              <a:t>No feedback = no correction (cumulative error)</a:t>
            </a:r>
          </a:p>
          <a:p>
            <a:pPr>
              <a:spcAft>
                <a:spcPts val="600"/>
              </a:spcAft>
            </a:pPr>
            <a:r>
              <a:rPr sz="1200" b="1">
                <a:solidFill>
                  <a:srgbClr val="00E676"/>
                </a:solidFill>
                <a:latin typeface="Consolas"/>
              </a:rPr>
              <a:t>✓  </a:t>
            </a:r>
            <a:r>
              <a:rPr sz="1200">
                <a:solidFill>
                  <a:srgbClr val="E8ECF4"/>
                </a:solidFill>
                <a:latin typeface="Segoe UI"/>
              </a:rPr>
              <a:t>Motor stall is the extreme case of step loss</a:t>
            </a:r>
          </a:p>
          <a:p>
            <a:pPr>
              <a:spcAft>
                <a:spcPts val="600"/>
              </a:spcAft>
            </a:pPr>
            <a:r>
              <a:rPr sz="1200" b="1">
                <a:solidFill>
                  <a:srgbClr val="00E676"/>
                </a:solidFill>
                <a:latin typeface="Consolas"/>
              </a:rPr>
              <a:t>✓  </a:t>
            </a:r>
            <a:r>
              <a:rPr sz="1200">
                <a:solidFill>
                  <a:srgbClr val="E8ECF4"/>
                </a:solidFill>
                <a:latin typeface="Segoe UI"/>
              </a:rPr>
              <a:t>Proper motor sizing prevents step loss</a:t>
            </a:r>
          </a:p>
          <a:p>
            <a:pPr>
              <a:spcAft>
                <a:spcPts val="600"/>
              </a:spcAft>
            </a:pPr>
            <a:r>
              <a:rPr sz="1200" b="1">
                <a:solidFill>
                  <a:srgbClr val="00E676"/>
                </a:solidFill>
                <a:latin typeface="Consolas"/>
              </a:rPr>
              <a:t>✓  </a:t>
            </a:r>
            <a:r>
              <a:rPr sz="1200">
                <a:solidFill>
                  <a:srgbClr val="E8ECF4"/>
                </a:solidFill>
                <a:latin typeface="Segoe UI"/>
              </a:rPr>
              <a:t>Closed-loop systems solve step loss problems</a:t>
            </a:r>
          </a:p>
        </p:txBody>
      </p:sp>
      <p:sp>
        <p:nvSpPr>
          <p:cNvPr id="7" name="Rounded Rectangle 6"/>
          <p:cNvSpPr/>
          <p:nvPr/>
        </p:nvSpPr>
        <p:spPr>
          <a:xfrm>
            <a:off x="457200" y="4846320"/>
            <a:ext cx="5486400" cy="1645920"/>
          </a:xfrm>
          <a:prstGeom prst="roundRect">
            <a:avLst/>
          </a:prstGeom>
          <a:solidFill>
            <a:srgbClr val="1A2336"/>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937760"/>
            <a:ext cx="5120640" cy="274320"/>
          </a:xfrm>
          <a:prstGeom prst="rect">
            <a:avLst/>
          </a:prstGeom>
          <a:noFill/>
        </p:spPr>
        <p:txBody>
          <a:bodyPr wrap="square">
            <a:spAutoFit/>
          </a:bodyPr>
          <a:lstStyle/>
          <a:p>
            <a:pPr algn="l">
              <a:defRPr sz="1400" b="1">
                <a:solidFill>
                  <a:srgbClr val="FF9800"/>
                </a:solidFill>
                <a:latin typeface="Segoe UI"/>
              </a:defRPr>
            </a:pPr>
            <a:r>
              <a:t>Key Takeaway</a:t>
            </a:r>
          </a:p>
        </p:txBody>
      </p:sp>
      <p:sp>
        <p:nvSpPr>
          <p:cNvPr id="9" name="TextBox 8"/>
          <p:cNvSpPr txBox="1"/>
          <p:nvPr/>
        </p:nvSpPr>
        <p:spPr>
          <a:xfrm>
            <a:off x="640080" y="5303520"/>
            <a:ext cx="5120640" cy="1097280"/>
          </a:xfrm>
          <a:prstGeom prst="rect">
            <a:avLst/>
          </a:prstGeom>
          <a:noFill/>
        </p:spPr>
        <p:txBody>
          <a:bodyPr wrap="square">
            <a:spAutoFit/>
          </a:bodyPr>
          <a:lstStyle/>
          <a:p>
            <a:pPr algn="l">
              <a:defRPr sz="1200" b="0">
                <a:solidFill>
                  <a:srgbClr val="8B95A8"/>
                </a:solidFill>
                <a:latin typeface="Segoe UI"/>
              </a:defRPr>
            </a:pPr>
            <a:r>
              <a:t>Always size your stepper motor to provide sufficient torque margin (typically 50-100% safety factor) above the maximum expected load. If position accuracy is critical, consider closed-loop stepper systems with encoder feedback.</a:t>
            </a:r>
          </a:p>
        </p:txBody>
      </p:sp>
      <p:sp>
        <p:nvSpPr>
          <p:cNvPr id="10" name="Rounded Rectangle 9"/>
          <p:cNvSpPr/>
          <p:nvPr/>
        </p:nvSpPr>
        <p:spPr>
          <a:xfrm>
            <a:off x="6217920" y="1005840"/>
            <a:ext cx="5486400" cy="548640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097280"/>
            <a:ext cx="5120640" cy="320040"/>
          </a:xfrm>
          <a:prstGeom prst="rect">
            <a:avLst/>
          </a:prstGeom>
          <a:noFill/>
        </p:spPr>
        <p:txBody>
          <a:bodyPr wrap="square">
            <a:spAutoFit/>
          </a:bodyPr>
          <a:lstStyle/>
          <a:p>
            <a:pPr algn="l">
              <a:defRPr sz="1600" b="1">
                <a:solidFill>
                  <a:srgbClr val="00D4FF"/>
                </a:solidFill>
                <a:latin typeface="Segoe UI"/>
              </a:defRPr>
            </a:pPr>
            <a:r>
              <a:t>Possible Extensions</a:t>
            </a:r>
          </a:p>
        </p:txBody>
      </p:sp>
      <p:sp>
        <p:nvSpPr>
          <p:cNvPr id="12" name="TextBox 11"/>
          <p:cNvSpPr txBox="1"/>
          <p:nvPr/>
        </p:nvSpPr>
        <p:spPr>
          <a:xfrm>
            <a:off x="6400800" y="1508760"/>
            <a:ext cx="5120640" cy="4572000"/>
          </a:xfrm>
          <a:prstGeom prst="rect">
            <a:avLst/>
          </a:prstGeom>
          <a:noFill/>
        </p:spPr>
        <p:txBody>
          <a:bodyPr wrap="square">
            <a:spAutoFit/>
          </a:bodyPr>
          <a:lstStyle/>
          <a:p>
            <a:pPr>
              <a:spcAft>
                <a:spcPts val="600"/>
              </a:spcAft>
            </a:pPr>
            <a:r>
              <a:rPr sz="1200" b="1">
                <a:solidFill>
                  <a:srgbClr val="E8ECF4"/>
                </a:solidFill>
                <a:latin typeface="Consolas"/>
              </a:rPr>
              <a:t>1.  </a:t>
            </a:r>
            <a:r>
              <a:rPr sz="1200">
                <a:solidFill>
                  <a:srgbClr val="E8ECF4"/>
                </a:solidFill>
                <a:latin typeface="Segoe UI"/>
              </a:rPr>
              <a:t>Add microstepping (1/2, 1/4, 1/8, 1/16 step modes)</a:t>
            </a:r>
          </a:p>
          <a:p>
            <a:pPr>
              <a:spcAft>
                <a:spcPts val="600"/>
              </a:spcAft>
            </a:pPr>
            <a:r>
              <a:rPr sz="1200" b="1">
                <a:solidFill>
                  <a:srgbClr val="E8ECF4"/>
                </a:solidFill>
                <a:latin typeface="Consolas"/>
              </a:rPr>
              <a:t>2.  </a:t>
            </a:r>
            <a:r>
              <a:rPr sz="1200">
                <a:solidFill>
                  <a:srgbClr val="E8ECF4"/>
                </a:solidFill>
                <a:latin typeface="Segoe UI"/>
              </a:rPr>
              <a:t>Implement speed-torque curve (torque drops at higher RPM)</a:t>
            </a:r>
          </a:p>
          <a:p>
            <a:pPr>
              <a:spcAft>
                <a:spcPts val="600"/>
              </a:spcAft>
            </a:pPr>
            <a:r>
              <a:rPr sz="1200" b="1">
                <a:solidFill>
                  <a:srgbClr val="E8ECF4"/>
                </a:solidFill>
                <a:latin typeface="Consolas"/>
              </a:rPr>
              <a:t>3.  </a:t>
            </a:r>
            <a:r>
              <a:rPr sz="1200">
                <a:solidFill>
                  <a:srgbClr val="E8ECF4"/>
                </a:solidFill>
                <a:latin typeface="Segoe UI"/>
              </a:rPr>
              <a:t>Add closed-loop feedback simulation for comparison</a:t>
            </a:r>
          </a:p>
          <a:p>
            <a:pPr>
              <a:spcAft>
                <a:spcPts val="600"/>
              </a:spcAft>
            </a:pPr>
            <a:r>
              <a:rPr sz="1200" b="1">
                <a:solidFill>
                  <a:srgbClr val="E8ECF4"/>
                </a:solidFill>
                <a:latin typeface="Consolas"/>
              </a:rPr>
              <a:t>4.  </a:t>
            </a:r>
            <a:r>
              <a:rPr sz="1200">
                <a:solidFill>
                  <a:srgbClr val="E8ECF4"/>
                </a:solidFill>
                <a:latin typeface="Segoe UI"/>
              </a:rPr>
              <a:t>Simulate motor heating and thermal derating</a:t>
            </a:r>
          </a:p>
          <a:p>
            <a:pPr>
              <a:spcAft>
                <a:spcPts val="600"/>
              </a:spcAft>
            </a:pPr>
            <a:r>
              <a:rPr sz="1200" b="1">
                <a:solidFill>
                  <a:srgbClr val="E8ECF4"/>
                </a:solidFill>
                <a:latin typeface="Consolas"/>
              </a:rPr>
              <a:t>5.  </a:t>
            </a:r>
            <a:r>
              <a:rPr sz="1200">
                <a:solidFill>
                  <a:srgbClr val="E8ECF4"/>
                </a:solidFill>
                <a:latin typeface="Segoe UI"/>
              </a:rPr>
              <a:t>Add acceleration/deceleration ramp profiles</a:t>
            </a:r>
          </a:p>
          <a:p>
            <a:pPr>
              <a:spcAft>
                <a:spcPts val="600"/>
              </a:spcAft>
            </a:pPr>
            <a:r>
              <a:rPr sz="1200" b="1">
                <a:solidFill>
                  <a:srgbClr val="E8ECF4"/>
                </a:solidFill>
                <a:latin typeface="Consolas"/>
              </a:rPr>
              <a:t>6.  </a:t>
            </a:r>
            <a:r>
              <a:rPr sz="1200">
                <a:solidFill>
                  <a:srgbClr val="E8ECF4"/>
                </a:solidFill>
                <a:latin typeface="Segoe UI"/>
              </a:rPr>
              <a:t>Multiple axis simulation (X, Y, Z)</a:t>
            </a:r>
          </a:p>
          <a:p>
            <a:pPr>
              <a:spcAft>
                <a:spcPts val="600"/>
              </a:spcAft>
            </a:pPr>
            <a:r>
              <a:rPr sz="1200" b="1">
                <a:solidFill>
                  <a:srgbClr val="E8ECF4"/>
                </a:solidFill>
                <a:latin typeface="Consolas"/>
              </a:rPr>
              <a:t>7.  </a:t>
            </a:r>
            <a:r>
              <a:rPr sz="1200">
                <a:solidFill>
                  <a:srgbClr val="E8ECF4"/>
                </a:solidFill>
                <a:latin typeface="Segoe UI"/>
              </a:rPr>
              <a:t>Export data to CSV for lab reports</a:t>
            </a:r>
          </a:p>
          <a:p>
            <a:pPr>
              <a:spcAft>
                <a:spcPts val="600"/>
              </a:spcAft>
            </a:pPr>
            <a:r>
              <a:rPr sz="1200" b="1">
                <a:solidFill>
                  <a:srgbClr val="E8ECF4"/>
                </a:solidFill>
                <a:latin typeface="Consolas"/>
              </a:rPr>
              <a:t>8.  </a:t>
            </a:r>
            <a:r>
              <a:rPr sz="1200">
                <a:solidFill>
                  <a:srgbClr val="E8ECF4"/>
                </a:solidFill>
                <a:latin typeface="Segoe UI"/>
              </a:rPr>
              <a:t>Connect to real hardware via serial/Bluetooth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E17"/>
        </a:solidFill>
        <a:effectLst/>
      </p:bgPr>
    </p:bg>
    <p:spTree>
      <p:nvGrpSpPr>
        <p:cNvPr id="1" name=""/>
        <p:cNvGrpSpPr/>
        <p:nvPr/>
      </p:nvGrpSpPr>
      <p:grpSpPr/>
      <p:sp>
        <p:nvSpPr>
          <p:cNvPr id="2" name="Rounded Rectangle 1"/>
          <p:cNvSpPr/>
          <p:nvPr/>
        </p:nvSpPr>
        <p:spPr>
          <a:xfrm>
            <a:off x="0" y="0"/>
            <a:ext cx="12188952" cy="54864"/>
          </a:xfrm>
          <a:prstGeom prst="round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2011680"/>
            <a:ext cx="9418320" cy="2743200"/>
          </a:xfrm>
          <a:prstGeom prst="roundRect">
            <a:avLst/>
          </a:prstGeom>
          <a:solidFill>
            <a:srgbClr val="111827"/>
          </a:solidFill>
          <a:ln w="12700">
            <a:solidFill>
              <a:srgbClr val="2A3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2286000"/>
            <a:ext cx="8229600" cy="640080"/>
          </a:xfrm>
          <a:prstGeom prst="rect">
            <a:avLst/>
          </a:prstGeom>
          <a:noFill/>
        </p:spPr>
        <p:txBody>
          <a:bodyPr wrap="square">
            <a:spAutoFit/>
          </a:bodyPr>
          <a:lstStyle/>
          <a:p>
            <a:pPr algn="ctr">
              <a:defRPr sz="4000" b="1">
                <a:solidFill>
                  <a:srgbClr val="00D4FF"/>
                </a:solidFill>
                <a:latin typeface="Segoe UI"/>
              </a:defRPr>
            </a:pPr>
            <a:r>
              <a:t>Thank You!</a:t>
            </a:r>
          </a:p>
        </p:txBody>
      </p:sp>
      <p:sp>
        <p:nvSpPr>
          <p:cNvPr id="5" name="Rounded Rectangle 4"/>
          <p:cNvSpPr/>
          <p:nvPr/>
        </p:nvSpPr>
        <p:spPr>
          <a:xfrm>
            <a:off x="4572000" y="3017520"/>
            <a:ext cx="3017520" cy="18288"/>
          </a:xfrm>
          <a:prstGeom prst="roundRect">
            <a:avLst/>
          </a:prstGeom>
          <a:solidFill>
            <a:srgbClr val="2A3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3200400"/>
            <a:ext cx="8229600" cy="457200"/>
          </a:xfrm>
          <a:prstGeom prst="rect">
            <a:avLst/>
          </a:prstGeom>
          <a:noFill/>
        </p:spPr>
        <p:txBody>
          <a:bodyPr wrap="square">
            <a:spAutoFit/>
          </a:bodyPr>
          <a:lstStyle/>
          <a:p>
            <a:pPr algn="ctr">
              <a:defRPr sz="1600" b="0">
                <a:solidFill>
                  <a:srgbClr val="E8ECF4"/>
                </a:solidFill>
                <a:latin typeface="Segoe UI"/>
              </a:defRPr>
            </a:pPr>
            <a:r>
              <a:t>Stepper Motor Open-Loop Simulation</a:t>
            </a:r>
          </a:p>
        </p:txBody>
      </p:sp>
      <p:sp>
        <p:nvSpPr>
          <p:cNvPr id="7" name="TextBox 6"/>
          <p:cNvSpPr txBox="1"/>
          <p:nvPr/>
        </p:nvSpPr>
        <p:spPr>
          <a:xfrm>
            <a:off x="1828800" y="3657600"/>
            <a:ext cx="8229600" cy="365760"/>
          </a:xfrm>
          <a:prstGeom prst="rect">
            <a:avLst/>
          </a:prstGeom>
          <a:noFill/>
        </p:spPr>
        <p:txBody>
          <a:bodyPr wrap="square">
            <a:spAutoFit/>
          </a:bodyPr>
          <a:lstStyle/>
          <a:p>
            <a:pPr algn="ctr">
              <a:defRPr sz="1400" b="0">
                <a:solidFill>
                  <a:srgbClr val="8B95A8"/>
                </a:solidFill>
                <a:latin typeface="Segoe UI"/>
              </a:defRPr>
            </a:pPr>
            <a:r>
              <a:t>Questions &amp; Discussion</a:t>
            </a:r>
          </a:p>
        </p:txBody>
      </p:sp>
      <p:sp>
        <p:nvSpPr>
          <p:cNvPr id="8" name="TextBox 7"/>
          <p:cNvSpPr txBox="1"/>
          <p:nvPr/>
        </p:nvSpPr>
        <p:spPr>
          <a:xfrm>
            <a:off x="1828800" y="4114800"/>
            <a:ext cx="8229600" cy="320040"/>
          </a:xfrm>
          <a:prstGeom prst="rect">
            <a:avLst/>
          </a:prstGeom>
          <a:noFill/>
        </p:spPr>
        <p:txBody>
          <a:bodyPr wrap="square">
            <a:spAutoFit/>
          </a:bodyPr>
          <a:lstStyle/>
          <a:p>
            <a:pPr algn="ctr">
              <a:defRPr sz="1300" b="1">
                <a:solidFill>
                  <a:srgbClr val="FF9800"/>
                </a:solidFill>
                <a:latin typeface="Segoe UI"/>
              </a:defRPr>
            </a:pPr>
            <a:r>
              <a:t>Author: NANDHAKUMAR J</a:t>
            </a:r>
          </a:p>
        </p:txBody>
      </p:sp>
      <p:sp>
        <p:nvSpPr>
          <p:cNvPr id="9" name="TextBox 8"/>
          <p:cNvSpPr txBox="1"/>
          <p:nvPr/>
        </p:nvSpPr>
        <p:spPr>
          <a:xfrm>
            <a:off x="1828800" y="5943600"/>
            <a:ext cx="8229600" cy="274320"/>
          </a:xfrm>
          <a:prstGeom prst="rect">
            <a:avLst/>
          </a:prstGeom>
          <a:noFill/>
        </p:spPr>
        <p:txBody>
          <a:bodyPr wrap="square">
            <a:spAutoFit/>
          </a:bodyPr>
          <a:lstStyle/>
          <a:p>
            <a:pPr algn="ctr">
              <a:defRPr sz="1000" b="0">
                <a:solidFill>
                  <a:srgbClr val="5A6478"/>
                </a:solidFill>
                <a:latin typeface="Segoe UI"/>
              </a:defRPr>
            </a:pPr>
            <a:r>
              <a:t>Built with Python + Tkinter  |  No external dependencies  |  Open Source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